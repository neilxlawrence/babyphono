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9" r:id="rId3"/>
    <p:sldId id="260" r:id="rId4"/>
    <p:sldId id="258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9" r:id="rId13"/>
    <p:sldId id="26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323F1A1-0DD5-45B9-9670-97BCDE096F98}" v="1" dt="2025-12-15T13:08:58.82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21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8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eil Lawrence" userId="8a61cc64-6ddc-44c3-ba44-40882efe7d33" providerId="ADAL" clId="{A71D4807-2959-418B-9149-9D380C5B2082}"/>
    <pc:docChg chg="undo custSel addSld delSld modSld sldOrd">
      <pc:chgData name="Neil Lawrence" userId="8a61cc64-6ddc-44c3-ba44-40882efe7d33" providerId="ADAL" clId="{A71D4807-2959-418B-9149-9D380C5B2082}" dt="2025-12-01T14:48:28.775" v="624" actId="21"/>
      <pc:docMkLst>
        <pc:docMk/>
      </pc:docMkLst>
      <pc:sldChg chg="addSp delSp modSp mod">
        <pc:chgData name="Neil Lawrence" userId="8a61cc64-6ddc-44c3-ba44-40882efe7d33" providerId="ADAL" clId="{A71D4807-2959-418B-9149-9D380C5B2082}" dt="2025-12-01T14:48:28.775" v="624" actId="21"/>
        <pc:sldMkLst>
          <pc:docMk/>
          <pc:sldMk cId="3234766108" sldId="264"/>
        </pc:sldMkLst>
        <pc:spChg chg="mod">
          <ac:chgData name="Neil Lawrence" userId="8a61cc64-6ddc-44c3-ba44-40882efe7d33" providerId="ADAL" clId="{A71D4807-2959-418B-9149-9D380C5B2082}" dt="2025-12-01T14:48:21.664" v="622" actId="6549"/>
          <ac:spMkLst>
            <pc:docMk/>
            <pc:sldMk cId="3234766108" sldId="264"/>
            <ac:spMk id="44" creationId="{DC80DF53-AD88-A671-3B69-C75360A30E27}"/>
          </ac:spMkLst>
        </pc:spChg>
      </pc:sldChg>
      <pc:sldChg chg="addSp delSp modSp mod">
        <pc:chgData name="Neil Lawrence" userId="8a61cc64-6ddc-44c3-ba44-40882efe7d33" providerId="ADAL" clId="{A71D4807-2959-418B-9149-9D380C5B2082}" dt="2025-12-01T14:28:43.311" v="595" actId="21"/>
        <pc:sldMkLst>
          <pc:docMk/>
          <pc:sldMk cId="2966259040" sldId="265"/>
        </pc:sldMkLst>
        <pc:spChg chg="mod">
          <ac:chgData name="Neil Lawrence" userId="8a61cc64-6ddc-44c3-ba44-40882efe7d33" providerId="ADAL" clId="{A71D4807-2959-418B-9149-9D380C5B2082}" dt="2025-12-01T14:27:05.113" v="577" actId="1035"/>
          <ac:spMkLst>
            <pc:docMk/>
            <pc:sldMk cId="2966259040" sldId="265"/>
            <ac:spMk id="42" creationId="{8CC312F3-CD3C-FF2F-55B3-D58C14A93270}"/>
          </ac:spMkLst>
        </pc:spChg>
        <pc:spChg chg="mod">
          <ac:chgData name="Neil Lawrence" userId="8a61cc64-6ddc-44c3-ba44-40882efe7d33" providerId="ADAL" clId="{A71D4807-2959-418B-9149-9D380C5B2082}" dt="2025-12-01T14:27:51.831" v="588" actId="14100"/>
          <ac:spMkLst>
            <pc:docMk/>
            <pc:sldMk cId="2966259040" sldId="265"/>
            <ac:spMk id="43" creationId="{2F13CBA5-8608-7C15-AC65-BBF8D2433B1E}"/>
          </ac:spMkLst>
        </pc:spChg>
        <pc:spChg chg="mod">
          <ac:chgData name="Neil Lawrence" userId="8a61cc64-6ddc-44c3-ba44-40882efe7d33" providerId="ADAL" clId="{A71D4807-2959-418B-9149-9D380C5B2082}" dt="2025-12-01T14:26:39.128" v="565"/>
          <ac:spMkLst>
            <pc:docMk/>
            <pc:sldMk cId="2966259040" sldId="265"/>
            <ac:spMk id="44" creationId="{0BD24AE1-9B52-928C-7397-970D9C6F955E}"/>
          </ac:spMkLst>
        </pc:spChg>
        <pc:cxnChg chg="mod">
          <ac:chgData name="Neil Lawrence" userId="8a61cc64-6ddc-44c3-ba44-40882efe7d33" providerId="ADAL" clId="{A71D4807-2959-418B-9149-9D380C5B2082}" dt="2025-12-01T14:28:35.753" v="593" actId="14100"/>
          <ac:cxnSpMkLst>
            <pc:docMk/>
            <pc:sldMk cId="2966259040" sldId="265"/>
            <ac:cxnSpMk id="10" creationId="{BEB6EEC5-3711-CEBD-2D86-5A835C6A4BED}"/>
          </ac:cxnSpMkLst>
        </pc:cxnChg>
        <pc:cxnChg chg="mod">
          <ac:chgData name="Neil Lawrence" userId="8a61cc64-6ddc-44c3-ba44-40882efe7d33" providerId="ADAL" clId="{A71D4807-2959-418B-9149-9D380C5B2082}" dt="2025-12-01T14:27:36.180" v="585" actId="14100"/>
          <ac:cxnSpMkLst>
            <pc:docMk/>
            <pc:sldMk cId="2966259040" sldId="265"/>
            <ac:cxnSpMk id="18" creationId="{D1F79585-938A-743F-879C-F3063D8CDD55}"/>
          </ac:cxnSpMkLst>
        </pc:cxnChg>
        <pc:cxnChg chg="mod">
          <ac:chgData name="Neil Lawrence" userId="8a61cc64-6ddc-44c3-ba44-40882efe7d33" providerId="ADAL" clId="{A71D4807-2959-418B-9149-9D380C5B2082}" dt="2025-12-01T14:27:05.113" v="577" actId="1035"/>
          <ac:cxnSpMkLst>
            <pc:docMk/>
            <pc:sldMk cId="2966259040" sldId="265"/>
            <ac:cxnSpMk id="48" creationId="{F8F253C2-285B-CE2F-61D2-090CB172CD00}"/>
          </ac:cxnSpMkLst>
        </pc:cxnChg>
      </pc:sldChg>
      <pc:sldChg chg="modSp mod">
        <pc:chgData name="Neil Lawrence" userId="8a61cc64-6ddc-44c3-ba44-40882efe7d33" providerId="ADAL" clId="{A71D4807-2959-418B-9149-9D380C5B2082}" dt="2025-12-01T14:25:36.095" v="528" actId="20577"/>
        <pc:sldMkLst>
          <pc:docMk/>
          <pc:sldMk cId="2487356749" sldId="266"/>
        </pc:sldMkLst>
        <pc:spChg chg="mod">
          <ac:chgData name="Neil Lawrence" userId="8a61cc64-6ddc-44c3-ba44-40882efe7d33" providerId="ADAL" clId="{A71D4807-2959-418B-9149-9D380C5B2082}" dt="2025-12-01T14:25:21.716" v="499" actId="255"/>
          <ac:spMkLst>
            <pc:docMk/>
            <pc:sldMk cId="2487356749" sldId="266"/>
            <ac:spMk id="5" creationId="{64587092-B798-880F-0D71-9072C542D8D2}"/>
          </ac:spMkLst>
        </pc:spChg>
        <pc:spChg chg="mod">
          <ac:chgData name="Neil Lawrence" userId="8a61cc64-6ddc-44c3-ba44-40882efe7d33" providerId="ADAL" clId="{A71D4807-2959-418B-9149-9D380C5B2082}" dt="2025-12-01T14:25:36.095" v="528" actId="20577"/>
          <ac:spMkLst>
            <pc:docMk/>
            <pc:sldMk cId="2487356749" sldId="266"/>
            <ac:spMk id="6" creationId="{A0E0332C-9AFF-1C87-3EDD-DAF0DCC48A3B}"/>
          </ac:spMkLst>
        </pc:spChg>
      </pc:sldChg>
      <pc:sldChg chg="addSp delSp modSp mod">
        <pc:chgData name="Neil Lawrence" userId="8a61cc64-6ddc-44c3-ba44-40882efe7d33" providerId="ADAL" clId="{A71D4807-2959-418B-9149-9D380C5B2082}" dt="2025-12-01T14:07:21.287" v="419" actId="21"/>
        <pc:sldMkLst>
          <pc:docMk/>
          <pc:sldMk cId="1682650516" sldId="267"/>
        </pc:sldMkLst>
        <pc:spChg chg="mod">
          <ac:chgData name="Neil Lawrence" userId="8a61cc64-6ddc-44c3-ba44-40882efe7d33" providerId="ADAL" clId="{A71D4807-2959-418B-9149-9D380C5B2082}" dt="2025-12-01T14:04:56.471" v="262" actId="20577"/>
          <ac:spMkLst>
            <pc:docMk/>
            <pc:sldMk cId="1682650516" sldId="267"/>
            <ac:spMk id="4" creationId="{C9A81881-AB9E-BAEB-3EA9-F87FC3C8C363}"/>
          </ac:spMkLst>
        </pc:spChg>
        <pc:spChg chg="mod">
          <ac:chgData name="Neil Lawrence" userId="8a61cc64-6ddc-44c3-ba44-40882efe7d33" providerId="ADAL" clId="{A71D4807-2959-418B-9149-9D380C5B2082}" dt="2025-12-01T14:05:28.078" v="305" actId="20577"/>
          <ac:spMkLst>
            <pc:docMk/>
            <pc:sldMk cId="1682650516" sldId="267"/>
            <ac:spMk id="5" creationId="{4F7A7012-73FF-BD45-D328-6C85613970D4}"/>
          </ac:spMkLst>
        </pc:spChg>
        <pc:spChg chg="mod">
          <ac:chgData name="Neil Lawrence" userId="8a61cc64-6ddc-44c3-ba44-40882efe7d33" providerId="ADAL" clId="{A71D4807-2959-418B-9149-9D380C5B2082}" dt="2025-12-01T14:06:27.954" v="411" actId="20577"/>
          <ac:spMkLst>
            <pc:docMk/>
            <pc:sldMk cId="1682650516" sldId="267"/>
            <ac:spMk id="6" creationId="{23EDF865-AC0D-823F-3BE9-1BDC75F214C6}"/>
          </ac:spMkLst>
        </pc:spChg>
        <pc:spChg chg="mod">
          <ac:chgData name="Neil Lawrence" userId="8a61cc64-6ddc-44c3-ba44-40882efe7d33" providerId="ADAL" clId="{A71D4807-2959-418B-9149-9D380C5B2082}" dt="2025-12-01T14:06:06.910" v="377" actId="20577"/>
          <ac:spMkLst>
            <pc:docMk/>
            <pc:sldMk cId="1682650516" sldId="267"/>
            <ac:spMk id="7" creationId="{539A1D40-3CB1-6E82-234A-56775F7867FF}"/>
          </ac:spMkLst>
        </pc:spChg>
        <pc:spChg chg="mod">
          <ac:chgData name="Neil Lawrence" userId="8a61cc64-6ddc-44c3-ba44-40882efe7d33" providerId="ADAL" clId="{A71D4807-2959-418B-9149-9D380C5B2082}" dt="2025-12-01T14:07:08.256" v="417" actId="20577"/>
          <ac:spMkLst>
            <pc:docMk/>
            <pc:sldMk cId="1682650516" sldId="267"/>
            <ac:spMk id="16" creationId="{D1ED327A-5964-0D58-B4E4-5F5E2C97A174}"/>
          </ac:spMkLst>
        </pc:spChg>
      </pc:sldChg>
      <pc:sldChg chg="addSp delSp add mod ord">
        <pc:chgData name="Neil Lawrence" userId="8a61cc64-6ddc-44c3-ba44-40882efe7d33" providerId="ADAL" clId="{A71D4807-2959-418B-9149-9D380C5B2082}" dt="2025-11-26T13:49:08.765" v="253" actId="21"/>
        <pc:sldMkLst>
          <pc:docMk/>
          <pc:sldMk cId="1645216039" sldId="268"/>
        </pc:sldMkLst>
      </pc:sldChg>
      <pc:sldChg chg="add ord">
        <pc:chgData name="Neil Lawrence" userId="8a61cc64-6ddc-44c3-ba44-40882efe7d33" providerId="ADAL" clId="{A71D4807-2959-418B-9149-9D380C5B2082}" dt="2025-11-26T13:49:02.172" v="249"/>
        <pc:sldMkLst>
          <pc:docMk/>
          <pc:sldMk cId="392669776" sldId="269"/>
        </pc:sldMkLst>
      </pc:sldChg>
    </pc:docChg>
  </pc:docChgLst>
  <pc:docChgLst>
    <pc:chgData name="Neil Lawrence" userId="8a61cc64-6ddc-44c3-ba44-40882efe7d33" providerId="ADAL" clId="{BF1B8DAB-338F-4601-B392-663CE50DFD73}"/>
    <pc:docChg chg="custSel modSld">
      <pc:chgData name="Neil Lawrence" userId="8a61cc64-6ddc-44c3-ba44-40882efe7d33" providerId="ADAL" clId="{BF1B8DAB-338F-4601-B392-663CE50DFD73}" dt="2025-12-15T13:09:45.658" v="1" actId="21"/>
      <pc:docMkLst>
        <pc:docMk/>
      </pc:docMkLst>
      <pc:sldChg chg="addSp delSp mod">
        <pc:chgData name="Neil Lawrence" userId="8a61cc64-6ddc-44c3-ba44-40882efe7d33" providerId="ADAL" clId="{BF1B8DAB-338F-4601-B392-663CE50DFD73}" dt="2025-12-15T13:09:45.658" v="1" actId="21"/>
        <pc:sldMkLst>
          <pc:docMk/>
          <pc:sldMk cId="1645216039" sldId="268"/>
        </pc:sldMkLst>
        <pc:picChg chg="add del">
          <ac:chgData name="Neil Lawrence" userId="8a61cc64-6ddc-44c3-ba44-40882efe7d33" providerId="ADAL" clId="{BF1B8DAB-338F-4601-B392-663CE50DFD73}" dt="2025-12-15T13:09:45.658" v="1" actId="21"/>
          <ac:picMkLst>
            <pc:docMk/>
            <pc:sldMk cId="1645216039" sldId="268"/>
            <ac:picMk id="20" creationId="{D4A26C58-A7D5-CF80-BF7F-305F8106B59F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2CF579-3E87-69ED-1417-ADA8396D541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D4EE44-641B-CF08-120E-13FB97C7155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D96F00-52D5-1534-BA41-E3403F7253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1BF28D-0BCE-4D5D-8470-D6A4A91AEF77}" type="datetimeFigureOut">
              <a:rPr lang="en-GB" smtClean="0"/>
              <a:t>15/12/2025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D6B4DA-34FF-CAF1-0451-6599596C05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FFF77D-F3DF-78F0-2E50-4A10657080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F8A49B-4B90-4F8E-806C-1CCDBFB63F9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56476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E0C89F-27F7-262B-C311-3E4DAFEA47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95EBA2-1570-EC70-FF07-8A5F2978D2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202BD5-3C01-572A-889F-94C6D336ED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1BF28D-0BCE-4D5D-8470-D6A4A91AEF77}" type="datetimeFigureOut">
              <a:rPr lang="en-GB" smtClean="0"/>
              <a:t>15/12/2025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AF4B33-F98D-9053-DC77-4182703FBC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39DAC9-1D97-E0B0-5054-3431A05664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F8A49B-4B90-4F8E-806C-1CCDBFB63F9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919148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F1D963-220F-2EBA-183E-8D7353D549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39AE6E-38B6-923F-E661-E651D6A518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2250D6-A3F1-02A4-B93C-2EFB1E3E7B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1BF28D-0BCE-4D5D-8470-D6A4A91AEF77}" type="datetimeFigureOut">
              <a:rPr lang="en-GB" smtClean="0"/>
              <a:t>15/12/2025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ECD36F-2F72-FA1D-3FF2-2FF0B09325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70D797-008F-4498-4E12-1F3E23EF0D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F8A49B-4B90-4F8E-806C-1CCDBFB63F9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323915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302470-2E28-050C-F0B8-AF01CD8CF2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66C543-6F68-CC6B-E336-0CB557FD4BD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DC4C13-3B68-B765-695E-DB8544B6A4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7B7C1F-F846-5615-B5DC-34ADC3ECE9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1BF28D-0BCE-4D5D-8470-D6A4A91AEF77}" type="datetimeFigureOut">
              <a:rPr lang="en-GB" smtClean="0"/>
              <a:t>15/12/2025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7686B1-832E-9542-0A07-5653FB57D9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691F2E-1712-BD9C-EE6D-B746FA626D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F8A49B-4B90-4F8E-806C-1CCDBFB63F9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351591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12F903-2F8D-A8C6-BBFB-C766729DA5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AF9A3A-4376-9A7C-56B5-0E77506F8A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F19473D-F8C8-595D-7E6E-495C9BC2F8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BF3E753-A018-E776-58D2-2129841E2B1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59E71CF-901D-A383-8389-90FFC2B442A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6F528F2-9A0F-ED0D-63F7-F395745101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1BF28D-0BCE-4D5D-8470-D6A4A91AEF77}" type="datetimeFigureOut">
              <a:rPr lang="en-GB" smtClean="0"/>
              <a:t>15/12/2025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69942D8-F04E-0F0B-C8B4-D55908BD06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D84C16A-A4F7-1FEF-68C2-9E812882FC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F8A49B-4B90-4F8E-806C-1CCDBFB63F9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538363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4D46B8-F55E-855C-9CD7-0EDCA9AFAB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27F1F0B-A35E-F61D-5507-49A23386CC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1BF28D-0BCE-4D5D-8470-D6A4A91AEF77}" type="datetimeFigureOut">
              <a:rPr lang="en-GB" smtClean="0"/>
              <a:t>15/12/2025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F065F29-074A-6C4E-3CB7-68079D3299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204A4B1-31C4-907A-5F74-79E00B3AB6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F8A49B-4B90-4F8E-806C-1CCDBFB63F9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362255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FD828E7-0A6D-5A71-3299-4CF4DEEB61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1BF28D-0BCE-4D5D-8470-D6A4A91AEF77}" type="datetimeFigureOut">
              <a:rPr lang="en-GB" smtClean="0"/>
              <a:t>15/12/2025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8738E88-D5F9-B0ED-9CE1-7F07FA4366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D878F3-4AE6-0896-BE93-BB45F41FB1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F8A49B-4B90-4F8E-806C-1CCDBFB63F9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738762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18A84C-8D24-D23E-26CA-A2D6D65ECC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679151-FE94-47BF-D8C4-BF2F64FEB6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FB0CB59-EBEB-A16C-D3D4-B304FFE0F2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97988E-28D4-4504-735E-651967696E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1BF28D-0BCE-4D5D-8470-D6A4A91AEF77}" type="datetimeFigureOut">
              <a:rPr lang="en-GB" smtClean="0"/>
              <a:t>15/12/2025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B6915A-F247-0672-0182-5155BCBD76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AC9A34-DECB-9D04-5961-B4890FF050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F8A49B-4B90-4F8E-806C-1CCDBFB63F9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588811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5F65DA-83D2-F58D-CD74-C9672512FC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D47BFBE-6A37-1EDA-89D3-AC066586716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17C8CF1-B0D1-240B-DC7C-D7307EFDE0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99A3819-0D57-8A60-8227-CFC927F018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1BF28D-0BCE-4D5D-8470-D6A4A91AEF77}" type="datetimeFigureOut">
              <a:rPr lang="en-GB" smtClean="0"/>
              <a:t>15/12/2025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1CD1BA-6987-7E9C-0202-B32028E318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EACECF-425F-FFF9-828D-17F71E23F7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F8A49B-4B90-4F8E-806C-1CCDBFB63F9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313700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D9DD50-FE7A-77E9-3CDE-109DC56137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D2BC68B-DEA1-68E3-EB8B-DA71C18248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EF1159-3BAD-5F8D-BFB1-F3806CB51F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1BF28D-0BCE-4D5D-8470-D6A4A91AEF77}" type="datetimeFigureOut">
              <a:rPr lang="en-GB" smtClean="0"/>
              <a:t>15/12/2025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BE88C7-6F5C-5F75-EC1D-501BEF886B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7390C-A5CC-F5A3-118B-63646B08E8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F8A49B-4B90-4F8E-806C-1CCDBFB63F9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510111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378C226-68B6-EB3F-DF02-5577C1671D6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AAFA78-5AF1-77E3-ABBC-021427F444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421F4D-DF75-C285-9739-FE2578A059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1BF28D-0BCE-4D5D-8470-D6A4A91AEF77}" type="datetimeFigureOut">
              <a:rPr lang="en-GB" smtClean="0"/>
              <a:t>15/12/2025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5BE6A3-AB58-35CE-2BF8-C04270494D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FE2398-8C00-C9E1-1915-79CFF812C5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F8A49B-4B90-4F8E-806C-1CCDBFB63F9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523896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DA9E894-58C7-D719-ED1F-AA56412563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3187E1-6B8F-8D75-515D-E3DE8407B0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BF3C32-C2C1-4F25-D7BF-27954D74A61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C1BF28D-0BCE-4D5D-8470-D6A4A91AEF77}" type="datetimeFigureOut">
              <a:rPr lang="en-GB" smtClean="0"/>
              <a:t>15/12/2025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6B490E-831D-6D83-9364-702207D5F73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574797-0860-1C99-3659-445187B14B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DF8A49B-4B90-4F8E-806C-1CCDBFB63F9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0546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8FADF55-ED00-A55A-AFC3-7542F8C0AC1D}"/>
              </a:ext>
            </a:extLst>
          </p:cNvPr>
          <p:cNvSpPr/>
          <p:nvPr/>
        </p:nvSpPr>
        <p:spPr>
          <a:xfrm>
            <a:off x="979113" y="640281"/>
            <a:ext cx="9842168" cy="36000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Feasibility of phonocardiography during NIPE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F333DE9-E306-F0AD-E2D4-309FD08396CE}"/>
              </a:ext>
            </a:extLst>
          </p:cNvPr>
          <p:cNvSpPr/>
          <p:nvPr/>
        </p:nvSpPr>
        <p:spPr>
          <a:xfrm>
            <a:off x="983953" y="3377910"/>
            <a:ext cx="9842168" cy="36000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Phonocardiography in babies referred from NIPE with a murmur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6531CCE-0003-29ED-0FEE-5EB0A72C41C4}"/>
              </a:ext>
            </a:extLst>
          </p:cNvPr>
          <p:cNvSpPr/>
          <p:nvPr/>
        </p:nvSpPr>
        <p:spPr>
          <a:xfrm>
            <a:off x="102543" y="640281"/>
            <a:ext cx="776345" cy="2621123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/>
              <a:t>Arm 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DF0604B-4661-A6F8-1C2F-10C7FE6DA970}"/>
              </a:ext>
            </a:extLst>
          </p:cNvPr>
          <p:cNvSpPr/>
          <p:nvPr/>
        </p:nvSpPr>
        <p:spPr>
          <a:xfrm>
            <a:off x="983953" y="1101405"/>
            <a:ext cx="2381744" cy="21600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dirty="0"/>
              <a:t>Carers of newborn babies consented on postnatal ward by Neil Lawrence before NIPE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25C70BC-D6A3-C449-2BA8-80E7A2E1A3E0}"/>
              </a:ext>
            </a:extLst>
          </p:cNvPr>
          <p:cNvSpPr/>
          <p:nvPr/>
        </p:nvSpPr>
        <p:spPr>
          <a:xfrm>
            <a:off x="3470761" y="1101405"/>
            <a:ext cx="2381744" cy="21600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/>
              <a:t>NIPE midwife trained to record phonocardiogram by Neil Lawrence</a:t>
            </a:r>
          </a:p>
          <a:p>
            <a:pPr algn="ctr"/>
            <a:endParaRPr lang="en-GB" sz="1600" dirty="0"/>
          </a:p>
          <a:p>
            <a:pPr algn="ctr"/>
            <a:r>
              <a:rPr lang="en-GB" sz="1600" dirty="0"/>
              <a:t>Phonocardiogram obtained by midwife conducting NIPE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889C2F1-7774-17FF-CE70-30CC70E37FCB}"/>
              </a:ext>
            </a:extLst>
          </p:cNvPr>
          <p:cNvSpPr/>
          <p:nvPr/>
        </p:nvSpPr>
        <p:spPr>
          <a:xfrm>
            <a:off x="983953" y="3796546"/>
            <a:ext cx="2381744" cy="21600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dirty="0"/>
              <a:t>Babies attending echocardiogram clinic due to murmur on NIPE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45B7C4B-4761-406C-57F8-5A3B86FA3793}"/>
              </a:ext>
            </a:extLst>
          </p:cNvPr>
          <p:cNvSpPr/>
          <p:nvPr/>
        </p:nvSpPr>
        <p:spPr>
          <a:xfrm>
            <a:off x="3470761" y="3796546"/>
            <a:ext cx="2381744" cy="21600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/>
              <a:t>Consent, observations and phonocardiogram obtained by Neil Lawrence directly before clinic appointment.</a:t>
            </a:r>
          </a:p>
          <a:p>
            <a:pPr algn="ctr"/>
            <a:r>
              <a:rPr lang="en-GB" sz="1600" dirty="0"/>
              <a:t>Carer survey about phonocardiogram recording.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08526CC-8796-88CE-EA68-2F1981B2015D}"/>
              </a:ext>
            </a:extLst>
          </p:cNvPr>
          <p:cNvSpPr/>
          <p:nvPr/>
        </p:nvSpPr>
        <p:spPr>
          <a:xfrm>
            <a:off x="5957569" y="3797983"/>
            <a:ext cx="2381744" cy="21600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/>
              <a:t>Standard clinic appointment and echo with consultant neonatologist, with consent for sharing of data from echocardiogram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FD8CE3-6DAD-2CF4-2FF4-78D1FAC0D9AE}"/>
              </a:ext>
            </a:extLst>
          </p:cNvPr>
          <p:cNvSpPr/>
          <p:nvPr/>
        </p:nvSpPr>
        <p:spPr>
          <a:xfrm>
            <a:off x="5957569" y="1101406"/>
            <a:ext cx="2381744" cy="21600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/>
              <a:t>Carer survey following phonocardiogram, and interview/survey with midwives conducting NIPE to assess logistical challenges </a:t>
            </a:r>
          </a:p>
          <a:p>
            <a:pPr algn="ctr"/>
            <a:r>
              <a:rPr lang="en-GB" sz="1600" dirty="0"/>
              <a:t>(secondary objective)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6391B2F-CC52-B412-9329-FE81661AC486}"/>
              </a:ext>
            </a:extLst>
          </p:cNvPr>
          <p:cNvSpPr/>
          <p:nvPr/>
        </p:nvSpPr>
        <p:spPr>
          <a:xfrm>
            <a:off x="8444377" y="1101406"/>
            <a:ext cx="2381744" cy="21600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/>
              <a:t>Assessment of phonocardiograms analysed by </a:t>
            </a:r>
            <a:r>
              <a:rPr lang="en-GB" sz="1600" dirty="0" err="1"/>
              <a:t>Eko</a:t>
            </a:r>
            <a:r>
              <a:rPr lang="en-GB" sz="1600" dirty="0"/>
              <a:t> software to define proportion of interpretable traces (primary objective)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967602D-95F5-51EE-1502-D365FDBA3ABE}"/>
              </a:ext>
            </a:extLst>
          </p:cNvPr>
          <p:cNvSpPr/>
          <p:nvPr/>
        </p:nvSpPr>
        <p:spPr>
          <a:xfrm>
            <a:off x="8444377" y="3797984"/>
            <a:ext cx="2381744" cy="21600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/>
              <a:t>Analysis of dynamic time warping algorithm and multivariable predictions to assess candidate predictors for follow up diagnostic accuracy study </a:t>
            </a:r>
          </a:p>
          <a:p>
            <a:pPr algn="ctr"/>
            <a:r>
              <a:rPr lang="en-GB" sz="1600" dirty="0"/>
              <a:t>(secondary objectives)</a:t>
            </a:r>
          </a:p>
        </p:txBody>
      </p:sp>
      <p:sp>
        <p:nvSpPr>
          <p:cNvPr id="14" name="Isosceles Triangle 13">
            <a:extLst>
              <a:ext uri="{FF2B5EF4-FFF2-40B4-BE49-F238E27FC236}">
                <a16:creationId xmlns:a16="http://schemas.microsoft.com/office/drawing/2014/main" id="{5F02A730-8F09-B3FC-0F5A-5C1438ED8195}"/>
              </a:ext>
            </a:extLst>
          </p:cNvPr>
          <p:cNvSpPr/>
          <p:nvPr/>
        </p:nvSpPr>
        <p:spPr>
          <a:xfrm rot="5400000">
            <a:off x="2338227" y="2128875"/>
            <a:ext cx="2160000" cy="105065"/>
          </a:xfrm>
          <a:prstGeom prst="triangle">
            <a:avLst>
              <a:gd name="adj" fmla="val 51508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Isosceles Triangle 14">
            <a:extLst>
              <a:ext uri="{FF2B5EF4-FFF2-40B4-BE49-F238E27FC236}">
                <a16:creationId xmlns:a16="http://schemas.microsoft.com/office/drawing/2014/main" id="{F2A9F5BF-9938-56B7-B2E7-21647764F7FC}"/>
              </a:ext>
            </a:extLst>
          </p:cNvPr>
          <p:cNvSpPr/>
          <p:nvPr/>
        </p:nvSpPr>
        <p:spPr>
          <a:xfrm rot="5400000">
            <a:off x="4825034" y="2128873"/>
            <a:ext cx="2160000" cy="105065"/>
          </a:xfrm>
          <a:prstGeom prst="triangle">
            <a:avLst>
              <a:gd name="adj" fmla="val 51508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Isosceles Triangle 15">
            <a:extLst>
              <a:ext uri="{FF2B5EF4-FFF2-40B4-BE49-F238E27FC236}">
                <a16:creationId xmlns:a16="http://schemas.microsoft.com/office/drawing/2014/main" id="{26D1C116-AAFC-572B-A4EF-CAAB89AE2F48}"/>
              </a:ext>
            </a:extLst>
          </p:cNvPr>
          <p:cNvSpPr/>
          <p:nvPr/>
        </p:nvSpPr>
        <p:spPr>
          <a:xfrm rot="5400000">
            <a:off x="7311843" y="2128872"/>
            <a:ext cx="2160000" cy="105065"/>
          </a:xfrm>
          <a:prstGeom prst="triangle">
            <a:avLst>
              <a:gd name="adj" fmla="val 51508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38E9110-440D-5D81-F475-F3BB65F925C2}"/>
              </a:ext>
            </a:extLst>
          </p:cNvPr>
          <p:cNvSpPr/>
          <p:nvPr/>
        </p:nvSpPr>
        <p:spPr>
          <a:xfrm>
            <a:off x="102542" y="3377909"/>
            <a:ext cx="776345" cy="255964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/>
              <a:t>Arm 2</a:t>
            </a:r>
          </a:p>
        </p:txBody>
      </p:sp>
      <p:sp>
        <p:nvSpPr>
          <p:cNvPr id="23" name="Isosceles Triangle 22">
            <a:extLst>
              <a:ext uri="{FF2B5EF4-FFF2-40B4-BE49-F238E27FC236}">
                <a16:creationId xmlns:a16="http://schemas.microsoft.com/office/drawing/2014/main" id="{42468D11-5B46-EA7E-BA1B-2C990DDDA7E3}"/>
              </a:ext>
            </a:extLst>
          </p:cNvPr>
          <p:cNvSpPr/>
          <p:nvPr/>
        </p:nvSpPr>
        <p:spPr>
          <a:xfrm rot="5400000">
            <a:off x="2335179" y="4805019"/>
            <a:ext cx="2160000" cy="105065"/>
          </a:xfrm>
          <a:prstGeom prst="triangle">
            <a:avLst>
              <a:gd name="adj" fmla="val 51508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4" name="Isosceles Triangle 23">
            <a:extLst>
              <a:ext uri="{FF2B5EF4-FFF2-40B4-BE49-F238E27FC236}">
                <a16:creationId xmlns:a16="http://schemas.microsoft.com/office/drawing/2014/main" id="{3989B145-9DFE-E8D1-5016-94ED0C4811CD}"/>
              </a:ext>
            </a:extLst>
          </p:cNvPr>
          <p:cNvSpPr/>
          <p:nvPr/>
        </p:nvSpPr>
        <p:spPr>
          <a:xfrm rot="5400000">
            <a:off x="4821986" y="4805017"/>
            <a:ext cx="2160000" cy="105065"/>
          </a:xfrm>
          <a:prstGeom prst="triangle">
            <a:avLst>
              <a:gd name="adj" fmla="val 51508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5" name="Isosceles Triangle 24">
            <a:extLst>
              <a:ext uri="{FF2B5EF4-FFF2-40B4-BE49-F238E27FC236}">
                <a16:creationId xmlns:a16="http://schemas.microsoft.com/office/drawing/2014/main" id="{07FBAF38-73B8-FFBA-466D-204944276B37}"/>
              </a:ext>
            </a:extLst>
          </p:cNvPr>
          <p:cNvSpPr/>
          <p:nvPr/>
        </p:nvSpPr>
        <p:spPr>
          <a:xfrm rot="5400000">
            <a:off x="7308795" y="4805016"/>
            <a:ext cx="2160000" cy="105065"/>
          </a:xfrm>
          <a:prstGeom prst="triangle">
            <a:avLst>
              <a:gd name="adj" fmla="val 51508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98AF71A2-56E4-691E-CA48-1405DA22E9CE}"/>
              </a:ext>
            </a:extLst>
          </p:cNvPr>
          <p:cNvSpPr/>
          <p:nvPr/>
        </p:nvSpPr>
        <p:spPr>
          <a:xfrm>
            <a:off x="10931179" y="1103701"/>
            <a:ext cx="1164363" cy="4833847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/>
              <a:t>Follow up telephone call after 1 year of age for outcome data</a:t>
            </a:r>
          </a:p>
          <a:p>
            <a:pPr algn="ctr"/>
            <a:endParaRPr lang="en-GB" sz="1600" dirty="0"/>
          </a:p>
          <a:p>
            <a:pPr algn="ctr"/>
            <a:r>
              <a:rPr lang="en-GB" sz="1200" dirty="0"/>
              <a:t>(appendix 1)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06D022C0-E6BC-2683-4F86-E5E437E988D2}"/>
              </a:ext>
            </a:extLst>
          </p:cNvPr>
          <p:cNvSpPr/>
          <p:nvPr/>
        </p:nvSpPr>
        <p:spPr>
          <a:xfrm>
            <a:off x="10931178" y="644129"/>
            <a:ext cx="1164364" cy="356152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/>
              <a:t>Both arms</a:t>
            </a:r>
          </a:p>
        </p:txBody>
      </p:sp>
    </p:spTree>
    <p:extLst>
      <p:ext uri="{BB962C8B-B14F-4D97-AF65-F5344CB8AC3E}">
        <p14:creationId xmlns:p14="http://schemas.microsoft.com/office/powerpoint/2010/main" val="21009094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B265ED-2788-53DC-9627-F3E9BA62B7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808191F-2C1B-4480-263B-85B474954359}"/>
              </a:ext>
            </a:extLst>
          </p:cNvPr>
          <p:cNvSpPr/>
          <p:nvPr/>
        </p:nvSpPr>
        <p:spPr>
          <a:xfrm>
            <a:off x="979113" y="640281"/>
            <a:ext cx="9842168" cy="36000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Feasibility of phonocardiography during NIPE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2805F39-E4B0-1528-6934-4BC46A4D7592}"/>
              </a:ext>
            </a:extLst>
          </p:cNvPr>
          <p:cNvSpPr/>
          <p:nvPr/>
        </p:nvSpPr>
        <p:spPr>
          <a:xfrm>
            <a:off x="983953" y="3377910"/>
            <a:ext cx="9842168" cy="36000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Phonocardiography in babies referred from NIPE with a murmur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EEFE863-8241-A071-C9FF-DE61A1CCAB9D}"/>
              </a:ext>
            </a:extLst>
          </p:cNvPr>
          <p:cNvSpPr/>
          <p:nvPr/>
        </p:nvSpPr>
        <p:spPr>
          <a:xfrm>
            <a:off x="102543" y="640281"/>
            <a:ext cx="776345" cy="2621123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/>
              <a:t>Arm 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B810329-72EF-A77A-4C47-3FA86A51E96A}"/>
              </a:ext>
            </a:extLst>
          </p:cNvPr>
          <p:cNvSpPr/>
          <p:nvPr/>
        </p:nvSpPr>
        <p:spPr>
          <a:xfrm>
            <a:off x="983953" y="1101405"/>
            <a:ext cx="2381744" cy="21600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dirty="0"/>
              <a:t>Eligibility:</a:t>
            </a:r>
          </a:p>
          <a:p>
            <a:pPr algn="ctr"/>
            <a:r>
              <a:rPr lang="en-GB" sz="2000" dirty="0"/>
              <a:t>Born &gt; 37 weeks undergoing NIPE on postnatal ward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C7B7481-B6C4-CD46-B3EB-0142B9D3A2D8}"/>
              </a:ext>
            </a:extLst>
          </p:cNvPr>
          <p:cNvSpPr/>
          <p:nvPr/>
        </p:nvSpPr>
        <p:spPr>
          <a:xfrm>
            <a:off x="3470761" y="1101405"/>
            <a:ext cx="2381744" cy="21600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/>
              <a:t>NIPE midwife trained to record phonocardiogram </a:t>
            </a:r>
          </a:p>
          <a:p>
            <a:pPr algn="ctr"/>
            <a:endParaRPr lang="en-GB" sz="1600" dirty="0"/>
          </a:p>
          <a:p>
            <a:pPr algn="ctr"/>
            <a:r>
              <a:rPr lang="en-GB" sz="1600" dirty="0"/>
              <a:t>Phonocardiogram obtained by midwife conducting NIPE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8D15F3F-8D33-3332-B49C-5C47828BA2C2}"/>
              </a:ext>
            </a:extLst>
          </p:cNvPr>
          <p:cNvSpPr/>
          <p:nvPr/>
        </p:nvSpPr>
        <p:spPr>
          <a:xfrm>
            <a:off x="983953" y="3796546"/>
            <a:ext cx="2381744" cy="21600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dirty="0"/>
              <a:t>Babies undergoing echocardiogram &lt; 28 days of age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469DACC-C3D0-BCF6-A24F-C78A4526D388}"/>
              </a:ext>
            </a:extLst>
          </p:cNvPr>
          <p:cNvSpPr/>
          <p:nvPr/>
        </p:nvSpPr>
        <p:spPr>
          <a:xfrm>
            <a:off x="3470761" y="3796546"/>
            <a:ext cx="2381744" cy="21600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/>
              <a:t>Consent, observations and phonocardiogram obtained within 6 hours of echocardiogram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2858E84-D617-8087-F4ED-4DF8DD4701FA}"/>
              </a:ext>
            </a:extLst>
          </p:cNvPr>
          <p:cNvSpPr/>
          <p:nvPr/>
        </p:nvSpPr>
        <p:spPr>
          <a:xfrm>
            <a:off x="5957569" y="3797983"/>
            <a:ext cx="2381744" cy="21600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/>
              <a:t>Echocardiogram by consultant neonatologist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6C7D01E-A18C-CA75-9FE3-C9B1EAD11027}"/>
              </a:ext>
            </a:extLst>
          </p:cNvPr>
          <p:cNvSpPr/>
          <p:nvPr/>
        </p:nvSpPr>
        <p:spPr>
          <a:xfrm>
            <a:off x="5957569" y="1101406"/>
            <a:ext cx="2381744" cy="21600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/>
              <a:t>Carer survey following phonocardiogram, and interview/survey with midwives conducting NIPE to assess logistical challenges 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EF910D5-A70F-2187-B10C-ECF3335CA6A5}"/>
              </a:ext>
            </a:extLst>
          </p:cNvPr>
          <p:cNvSpPr/>
          <p:nvPr/>
        </p:nvSpPr>
        <p:spPr>
          <a:xfrm>
            <a:off x="8444377" y="1101406"/>
            <a:ext cx="2381744" cy="21600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/>
              <a:t>Assessment of phonocardiograms to define proportion of interpretable traces (primary objective)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FA903C1-BFF9-14AC-2ED0-A89A1317CF47}"/>
              </a:ext>
            </a:extLst>
          </p:cNvPr>
          <p:cNvSpPr/>
          <p:nvPr/>
        </p:nvSpPr>
        <p:spPr>
          <a:xfrm>
            <a:off x="8444377" y="3797984"/>
            <a:ext cx="2381744" cy="21600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/>
              <a:t>Pilot prediction modelling to assess candidate predictors for follow up diagnostic accuracy study </a:t>
            </a:r>
          </a:p>
        </p:txBody>
      </p:sp>
      <p:sp>
        <p:nvSpPr>
          <p:cNvPr id="14" name="Isosceles Triangle 13">
            <a:extLst>
              <a:ext uri="{FF2B5EF4-FFF2-40B4-BE49-F238E27FC236}">
                <a16:creationId xmlns:a16="http://schemas.microsoft.com/office/drawing/2014/main" id="{C88A70C0-8C4A-643C-EEFF-B0D78DD5CDA7}"/>
              </a:ext>
            </a:extLst>
          </p:cNvPr>
          <p:cNvSpPr/>
          <p:nvPr/>
        </p:nvSpPr>
        <p:spPr>
          <a:xfrm rot="5400000">
            <a:off x="2338227" y="2128875"/>
            <a:ext cx="2160000" cy="105065"/>
          </a:xfrm>
          <a:prstGeom prst="triangle">
            <a:avLst>
              <a:gd name="adj" fmla="val 51508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Isosceles Triangle 14">
            <a:extLst>
              <a:ext uri="{FF2B5EF4-FFF2-40B4-BE49-F238E27FC236}">
                <a16:creationId xmlns:a16="http://schemas.microsoft.com/office/drawing/2014/main" id="{FB22952A-BAC3-FF14-EEDA-3A69CBCCFE10}"/>
              </a:ext>
            </a:extLst>
          </p:cNvPr>
          <p:cNvSpPr/>
          <p:nvPr/>
        </p:nvSpPr>
        <p:spPr>
          <a:xfrm rot="5400000">
            <a:off x="4825034" y="2128873"/>
            <a:ext cx="2160000" cy="105065"/>
          </a:xfrm>
          <a:prstGeom prst="triangle">
            <a:avLst>
              <a:gd name="adj" fmla="val 51508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Isosceles Triangle 15">
            <a:extLst>
              <a:ext uri="{FF2B5EF4-FFF2-40B4-BE49-F238E27FC236}">
                <a16:creationId xmlns:a16="http://schemas.microsoft.com/office/drawing/2014/main" id="{04C83348-5654-7D13-D9F5-53A0222853D2}"/>
              </a:ext>
            </a:extLst>
          </p:cNvPr>
          <p:cNvSpPr/>
          <p:nvPr/>
        </p:nvSpPr>
        <p:spPr>
          <a:xfrm rot="5400000">
            <a:off x="7311843" y="2128872"/>
            <a:ext cx="2160000" cy="105065"/>
          </a:xfrm>
          <a:prstGeom prst="triangle">
            <a:avLst>
              <a:gd name="adj" fmla="val 51508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375FD3E-7517-90B4-F360-68B3D6EC012F}"/>
              </a:ext>
            </a:extLst>
          </p:cNvPr>
          <p:cNvSpPr/>
          <p:nvPr/>
        </p:nvSpPr>
        <p:spPr>
          <a:xfrm>
            <a:off x="102542" y="3377909"/>
            <a:ext cx="776345" cy="255964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/>
              <a:t>Arm 2</a:t>
            </a:r>
          </a:p>
        </p:txBody>
      </p:sp>
      <p:sp>
        <p:nvSpPr>
          <p:cNvPr id="23" name="Isosceles Triangle 22">
            <a:extLst>
              <a:ext uri="{FF2B5EF4-FFF2-40B4-BE49-F238E27FC236}">
                <a16:creationId xmlns:a16="http://schemas.microsoft.com/office/drawing/2014/main" id="{75457842-6BC1-540C-5021-2FBCB52F7033}"/>
              </a:ext>
            </a:extLst>
          </p:cNvPr>
          <p:cNvSpPr/>
          <p:nvPr/>
        </p:nvSpPr>
        <p:spPr>
          <a:xfrm rot="5400000">
            <a:off x="2335179" y="4805019"/>
            <a:ext cx="2160000" cy="105065"/>
          </a:xfrm>
          <a:prstGeom prst="triangle">
            <a:avLst>
              <a:gd name="adj" fmla="val 51508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4" name="Isosceles Triangle 23">
            <a:extLst>
              <a:ext uri="{FF2B5EF4-FFF2-40B4-BE49-F238E27FC236}">
                <a16:creationId xmlns:a16="http://schemas.microsoft.com/office/drawing/2014/main" id="{EC37405E-D555-0EA3-218A-7C7FB276E705}"/>
              </a:ext>
            </a:extLst>
          </p:cNvPr>
          <p:cNvSpPr/>
          <p:nvPr/>
        </p:nvSpPr>
        <p:spPr>
          <a:xfrm rot="5400000">
            <a:off x="4821986" y="4805017"/>
            <a:ext cx="2160000" cy="105065"/>
          </a:xfrm>
          <a:prstGeom prst="triangle">
            <a:avLst>
              <a:gd name="adj" fmla="val 51508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5" name="Isosceles Triangle 24">
            <a:extLst>
              <a:ext uri="{FF2B5EF4-FFF2-40B4-BE49-F238E27FC236}">
                <a16:creationId xmlns:a16="http://schemas.microsoft.com/office/drawing/2014/main" id="{937DEF20-B537-211E-787D-D030F8DF4F2F}"/>
              </a:ext>
            </a:extLst>
          </p:cNvPr>
          <p:cNvSpPr/>
          <p:nvPr/>
        </p:nvSpPr>
        <p:spPr>
          <a:xfrm rot="5400000">
            <a:off x="7308795" y="4805016"/>
            <a:ext cx="2160000" cy="105065"/>
          </a:xfrm>
          <a:prstGeom prst="triangle">
            <a:avLst>
              <a:gd name="adj" fmla="val 51508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D9779DA-2854-0077-DA1C-9CD63332427E}"/>
              </a:ext>
            </a:extLst>
          </p:cNvPr>
          <p:cNvSpPr/>
          <p:nvPr/>
        </p:nvSpPr>
        <p:spPr>
          <a:xfrm>
            <a:off x="10931179" y="1103701"/>
            <a:ext cx="1164363" cy="4833847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/>
              <a:t>Follow up telephone call after 1 year of age for outcome data (any diagnosis of CHD)</a:t>
            </a:r>
          </a:p>
          <a:p>
            <a:pPr algn="ctr"/>
            <a:endParaRPr lang="en-GB" sz="1600" dirty="0"/>
          </a:p>
          <a:p>
            <a:pPr algn="ctr"/>
            <a:endParaRPr lang="en-GB" sz="1200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5B41E34C-2399-1B14-A74F-D5E02415B3C7}"/>
              </a:ext>
            </a:extLst>
          </p:cNvPr>
          <p:cNvSpPr/>
          <p:nvPr/>
        </p:nvSpPr>
        <p:spPr>
          <a:xfrm>
            <a:off x="10931178" y="644129"/>
            <a:ext cx="1164364" cy="356152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/>
              <a:t>Both arms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2362EB8-1631-C5E7-A846-FA8CA889A3C1}"/>
              </a:ext>
            </a:extLst>
          </p:cNvPr>
          <p:cNvSpPr txBox="1"/>
          <p:nvPr/>
        </p:nvSpPr>
        <p:spPr>
          <a:xfrm>
            <a:off x="1524" y="6033053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dirty="0"/>
              <a:t>NIPE = Newborn Infant Physical Examination</a:t>
            </a:r>
            <a:endParaRPr lang="en-GB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6BE85B2-6681-9C9F-8DEC-CD3B0575E450}"/>
              </a:ext>
            </a:extLst>
          </p:cNvPr>
          <p:cNvSpPr txBox="1"/>
          <p:nvPr/>
        </p:nvSpPr>
        <p:spPr>
          <a:xfrm>
            <a:off x="-1" y="154444"/>
            <a:ext cx="696869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dirty="0"/>
              <a:t>BabyPHONO feasibility study: Jessops Wing Hospital, Sheffield, UK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04298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50B555-4C61-FA48-7040-27729DBCCF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C5E66EE-525F-B77F-A482-DD3E3750AFB5}"/>
              </a:ext>
            </a:extLst>
          </p:cNvPr>
          <p:cNvSpPr/>
          <p:nvPr/>
        </p:nvSpPr>
        <p:spPr>
          <a:xfrm>
            <a:off x="979113" y="640281"/>
            <a:ext cx="9842168" cy="36000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Digital heart sound recordings during baby check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81FD2A2-BC62-C5C0-46C9-984473CE4753}"/>
              </a:ext>
            </a:extLst>
          </p:cNvPr>
          <p:cNvSpPr/>
          <p:nvPr/>
        </p:nvSpPr>
        <p:spPr>
          <a:xfrm>
            <a:off x="983953" y="3377910"/>
            <a:ext cx="9842168" cy="36000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Digital heart sound recordings to predict results from heart scans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E38DE1F-4C69-92A3-9863-BE0780721830}"/>
              </a:ext>
            </a:extLst>
          </p:cNvPr>
          <p:cNvSpPr/>
          <p:nvPr/>
        </p:nvSpPr>
        <p:spPr>
          <a:xfrm>
            <a:off x="102543" y="640281"/>
            <a:ext cx="776345" cy="2621123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Arm 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F291254-B2B1-EB0C-9D3D-77D97C1AF865}"/>
              </a:ext>
            </a:extLst>
          </p:cNvPr>
          <p:cNvSpPr/>
          <p:nvPr/>
        </p:nvSpPr>
        <p:spPr>
          <a:xfrm>
            <a:off x="983953" y="1101405"/>
            <a:ext cx="2381744" cy="21600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Baby having baby check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E14DC1B-A0B4-8AEC-A207-96EA36D9CD8B}"/>
              </a:ext>
            </a:extLst>
          </p:cNvPr>
          <p:cNvSpPr/>
          <p:nvPr/>
        </p:nvSpPr>
        <p:spPr>
          <a:xfrm>
            <a:off x="3470761" y="1101405"/>
            <a:ext cx="2381744" cy="21600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Midwife records heart sounds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3BF0ABB-72AC-A2B2-F59E-0C1CCB788423}"/>
              </a:ext>
            </a:extLst>
          </p:cNvPr>
          <p:cNvSpPr/>
          <p:nvPr/>
        </p:nvSpPr>
        <p:spPr>
          <a:xfrm>
            <a:off x="983953" y="3796546"/>
            <a:ext cx="2381744" cy="21600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Babies scheduled for heart scans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2232FC6-5425-FAB4-7EC0-F22C5FEA3881}"/>
              </a:ext>
            </a:extLst>
          </p:cNvPr>
          <p:cNvSpPr/>
          <p:nvPr/>
        </p:nvSpPr>
        <p:spPr>
          <a:xfrm>
            <a:off x="3470761" y="3796546"/>
            <a:ext cx="2381744" cy="21600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Doctor records heart sounds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917A077-197A-5ED6-0074-42233B350FAF}"/>
              </a:ext>
            </a:extLst>
          </p:cNvPr>
          <p:cNvSpPr/>
          <p:nvPr/>
        </p:nvSpPr>
        <p:spPr>
          <a:xfrm>
            <a:off x="5957569" y="3797983"/>
            <a:ext cx="2381744" cy="21600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Heart scan performed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40D367C-122F-FF99-F760-AAF1F1561177}"/>
              </a:ext>
            </a:extLst>
          </p:cNvPr>
          <p:cNvSpPr/>
          <p:nvPr/>
        </p:nvSpPr>
        <p:spPr>
          <a:xfrm>
            <a:off x="5957569" y="1101406"/>
            <a:ext cx="2381744" cy="21600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Mothers fill out questionnaire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6E0B2E2-6578-F33B-98EC-C3B24D88AAF2}"/>
              </a:ext>
            </a:extLst>
          </p:cNvPr>
          <p:cNvSpPr/>
          <p:nvPr/>
        </p:nvSpPr>
        <p:spPr>
          <a:xfrm>
            <a:off x="8444377" y="1101406"/>
            <a:ext cx="2381744" cy="21600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Midwives interviewed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9B4D4D2-D7BA-0F14-FA39-1B18BCB15738}"/>
              </a:ext>
            </a:extLst>
          </p:cNvPr>
          <p:cNvSpPr/>
          <p:nvPr/>
        </p:nvSpPr>
        <p:spPr>
          <a:xfrm>
            <a:off x="8444377" y="3797984"/>
            <a:ext cx="2381744" cy="21600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Preliminary prediction algorithm</a:t>
            </a:r>
          </a:p>
        </p:txBody>
      </p:sp>
      <p:sp>
        <p:nvSpPr>
          <p:cNvPr id="14" name="Isosceles Triangle 13">
            <a:extLst>
              <a:ext uri="{FF2B5EF4-FFF2-40B4-BE49-F238E27FC236}">
                <a16:creationId xmlns:a16="http://schemas.microsoft.com/office/drawing/2014/main" id="{B8B0F1CC-27C4-DA94-F66E-A87D1726ABC0}"/>
              </a:ext>
            </a:extLst>
          </p:cNvPr>
          <p:cNvSpPr/>
          <p:nvPr/>
        </p:nvSpPr>
        <p:spPr>
          <a:xfrm rot="5400000">
            <a:off x="2338227" y="2128875"/>
            <a:ext cx="2160000" cy="105065"/>
          </a:xfrm>
          <a:prstGeom prst="triangle">
            <a:avLst>
              <a:gd name="adj" fmla="val 51508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Isosceles Triangle 14">
            <a:extLst>
              <a:ext uri="{FF2B5EF4-FFF2-40B4-BE49-F238E27FC236}">
                <a16:creationId xmlns:a16="http://schemas.microsoft.com/office/drawing/2014/main" id="{70866D3A-CE66-A76F-B004-2D623309C300}"/>
              </a:ext>
            </a:extLst>
          </p:cNvPr>
          <p:cNvSpPr/>
          <p:nvPr/>
        </p:nvSpPr>
        <p:spPr>
          <a:xfrm rot="5400000">
            <a:off x="4825034" y="2128873"/>
            <a:ext cx="2160000" cy="105065"/>
          </a:xfrm>
          <a:prstGeom prst="triangle">
            <a:avLst>
              <a:gd name="adj" fmla="val 51508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Isosceles Triangle 15">
            <a:extLst>
              <a:ext uri="{FF2B5EF4-FFF2-40B4-BE49-F238E27FC236}">
                <a16:creationId xmlns:a16="http://schemas.microsoft.com/office/drawing/2014/main" id="{5A454AFB-75C6-D8B0-A01D-CC9DE328950E}"/>
              </a:ext>
            </a:extLst>
          </p:cNvPr>
          <p:cNvSpPr/>
          <p:nvPr/>
        </p:nvSpPr>
        <p:spPr>
          <a:xfrm rot="5400000">
            <a:off x="7311843" y="2128872"/>
            <a:ext cx="2160000" cy="105065"/>
          </a:xfrm>
          <a:prstGeom prst="triangle">
            <a:avLst>
              <a:gd name="adj" fmla="val 51508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5CAC959-CE08-A869-126F-3B4D9C7EF508}"/>
              </a:ext>
            </a:extLst>
          </p:cNvPr>
          <p:cNvSpPr/>
          <p:nvPr/>
        </p:nvSpPr>
        <p:spPr>
          <a:xfrm>
            <a:off x="102542" y="3377909"/>
            <a:ext cx="776345" cy="255964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Arm 2</a:t>
            </a:r>
          </a:p>
        </p:txBody>
      </p:sp>
      <p:sp>
        <p:nvSpPr>
          <p:cNvPr id="23" name="Isosceles Triangle 22">
            <a:extLst>
              <a:ext uri="{FF2B5EF4-FFF2-40B4-BE49-F238E27FC236}">
                <a16:creationId xmlns:a16="http://schemas.microsoft.com/office/drawing/2014/main" id="{D91AB7B9-38C0-4BCA-8EAF-8EE83B43CE22}"/>
              </a:ext>
            </a:extLst>
          </p:cNvPr>
          <p:cNvSpPr/>
          <p:nvPr/>
        </p:nvSpPr>
        <p:spPr>
          <a:xfrm rot="5400000">
            <a:off x="2335179" y="4805019"/>
            <a:ext cx="2160000" cy="105065"/>
          </a:xfrm>
          <a:prstGeom prst="triangle">
            <a:avLst>
              <a:gd name="adj" fmla="val 51508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4" name="Isosceles Triangle 23">
            <a:extLst>
              <a:ext uri="{FF2B5EF4-FFF2-40B4-BE49-F238E27FC236}">
                <a16:creationId xmlns:a16="http://schemas.microsoft.com/office/drawing/2014/main" id="{600C0D3D-0D39-EECF-321A-7D42B43051AC}"/>
              </a:ext>
            </a:extLst>
          </p:cNvPr>
          <p:cNvSpPr/>
          <p:nvPr/>
        </p:nvSpPr>
        <p:spPr>
          <a:xfrm rot="5400000">
            <a:off x="4821986" y="4805017"/>
            <a:ext cx="2160000" cy="105065"/>
          </a:xfrm>
          <a:prstGeom prst="triangle">
            <a:avLst>
              <a:gd name="adj" fmla="val 51508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5" name="Isosceles Triangle 24">
            <a:extLst>
              <a:ext uri="{FF2B5EF4-FFF2-40B4-BE49-F238E27FC236}">
                <a16:creationId xmlns:a16="http://schemas.microsoft.com/office/drawing/2014/main" id="{4B791632-41E7-361E-F008-E6F332875A2D}"/>
              </a:ext>
            </a:extLst>
          </p:cNvPr>
          <p:cNvSpPr/>
          <p:nvPr/>
        </p:nvSpPr>
        <p:spPr>
          <a:xfrm rot="5400000">
            <a:off x="7308795" y="4805016"/>
            <a:ext cx="2160000" cy="105065"/>
          </a:xfrm>
          <a:prstGeom prst="triangle">
            <a:avLst>
              <a:gd name="adj" fmla="val 51508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30D64B3-6CD8-232F-6664-04A6A8ECF5C2}"/>
              </a:ext>
            </a:extLst>
          </p:cNvPr>
          <p:cNvSpPr/>
          <p:nvPr/>
        </p:nvSpPr>
        <p:spPr>
          <a:xfrm>
            <a:off x="10931179" y="1103701"/>
            <a:ext cx="1164363" cy="4833847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Follow up phone call after 1 year of age to check any diagnosis of heart disease in baby</a:t>
            </a:r>
          </a:p>
          <a:p>
            <a:pPr algn="ctr"/>
            <a:endParaRPr lang="en-GB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39679426-C588-081E-4C37-29D63BE85830}"/>
              </a:ext>
            </a:extLst>
          </p:cNvPr>
          <p:cNvSpPr/>
          <p:nvPr/>
        </p:nvSpPr>
        <p:spPr>
          <a:xfrm>
            <a:off x="10931178" y="644129"/>
            <a:ext cx="1164364" cy="356152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C8EC9DD-DEE7-1C3E-8876-74BB3F7684C6}"/>
              </a:ext>
            </a:extLst>
          </p:cNvPr>
          <p:cNvSpPr txBox="1"/>
          <p:nvPr/>
        </p:nvSpPr>
        <p:spPr>
          <a:xfrm>
            <a:off x="-1" y="154444"/>
            <a:ext cx="696869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BabyPHONO study protocol</a:t>
            </a:r>
          </a:p>
        </p:txBody>
      </p:sp>
    </p:spTree>
    <p:extLst>
      <p:ext uri="{BB962C8B-B14F-4D97-AF65-F5344CB8AC3E}">
        <p14:creationId xmlns:p14="http://schemas.microsoft.com/office/powerpoint/2010/main" val="12450004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19E3472-72EC-4AE2-7678-43F18E93E2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42385"/>
            <a:ext cx="12192000" cy="6373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27796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23933FC-73D1-2872-624E-8FC19D069A9D}"/>
              </a:ext>
            </a:extLst>
          </p:cNvPr>
          <p:cNvSpPr/>
          <p:nvPr/>
        </p:nvSpPr>
        <p:spPr>
          <a:xfrm>
            <a:off x="764246" y="283464"/>
            <a:ext cx="2414016" cy="122529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&gt;100 Babies undergoing NIPE in first 72 hours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4C141F97-40BC-CAFB-4ED5-0D7F9416D5C1}"/>
              </a:ext>
            </a:extLst>
          </p:cNvPr>
          <p:cNvCxnSpPr>
            <a:cxnSpLocks/>
            <a:stCxn id="2" idx="3"/>
            <a:endCxn id="5" idx="1"/>
          </p:cNvCxnSpPr>
          <p:nvPr/>
        </p:nvCxnSpPr>
        <p:spPr>
          <a:xfrm>
            <a:off x="3178262" y="896112"/>
            <a:ext cx="27817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>
            <a:extLst>
              <a:ext uri="{FF2B5EF4-FFF2-40B4-BE49-F238E27FC236}">
                <a16:creationId xmlns:a16="http://schemas.microsoft.com/office/drawing/2014/main" id="{9ADAAADD-D9A2-0583-3A8D-FD8B1726571E}"/>
              </a:ext>
            </a:extLst>
          </p:cNvPr>
          <p:cNvSpPr/>
          <p:nvPr/>
        </p:nvSpPr>
        <p:spPr>
          <a:xfrm>
            <a:off x="3456432" y="283464"/>
            <a:ext cx="2414016" cy="122529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NIPE </a:t>
            </a:r>
            <a:r>
              <a:rPr lang="en-GB" dirty="0" err="1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practitoner</a:t>
            </a:r>
            <a:r>
              <a:rPr lang="en-GB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records heart sounds of at least 5 babies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997EE56A-2D1F-85D8-09FA-FDAB6F84D383}"/>
              </a:ext>
            </a:extLst>
          </p:cNvPr>
          <p:cNvCxnSpPr>
            <a:cxnSpLocks/>
          </p:cNvCxnSpPr>
          <p:nvPr/>
        </p:nvCxnSpPr>
        <p:spPr>
          <a:xfrm flipV="1">
            <a:off x="5868895" y="896112"/>
            <a:ext cx="332290" cy="914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607D430D-29DD-3829-2084-C9F9164B4591}"/>
              </a:ext>
            </a:extLst>
          </p:cNvPr>
          <p:cNvSpPr/>
          <p:nvPr/>
        </p:nvSpPr>
        <p:spPr>
          <a:xfrm>
            <a:off x="6227064" y="292608"/>
            <a:ext cx="2414016" cy="122529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Qualitative surveys/interviews of clinicians and carers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9474030-CE30-FD24-2228-8F0C29C0B4AE}"/>
              </a:ext>
            </a:extLst>
          </p:cNvPr>
          <p:cNvSpPr/>
          <p:nvPr/>
        </p:nvSpPr>
        <p:spPr>
          <a:xfrm>
            <a:off x="764246" y="2916937"/>
            <a:ext cx="2414016" cy="122529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&gt;100 Babies &lt; 3m old undergoing echocardiogram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37045B43-C618-07D7-3B9B-10BB0FBE82B2}"/>
              </a:ext>
            </a:extLst>
          </p:cNvPr>
          <p:cNvCxnSpPr>
            <a:cxnSpLocks/>
            <a:stCxn id="8" idx="3"/>
          </p:cNvCxnSpPr>
          <p:nvPr/>
        </p:nvCxnSpPr>
        <p:spPr>
          <a:xfrm flipV="1">
            <a:off x="3178262" y="3429000"/>
            <a:ext cx="278170" cy="10058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B5EF0115-CD0B-6531-8445-E1A36D8A5B3C}"/>
              </a:ext>
            </a:extLst>
          </p:cNvPr>
          <p:cNvSpPr/>
          <p:nvPr/>
        </p:nvSpPr>
        <p:spPr>
          <a:xfrm>
            <a:off x="3456432" y="1837944"/>
            <a:ext cx="2414016" cy="181965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&gt;50 babies with previous structural findings on echocardiogram</a:t>
            </a:r>
          </a:p>
          <a:p>
            <a:pPr algn="ctr"/>
            <a:r>
              <a:rPr lang="en-GB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of PDA / VSD / valve stenosis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939760B-CCBD-BB35-FC71-FF411402E238}"/>
              </a:ext>
            </a:extLst>
          </p:cNvPr>
          <p:cNvSpPr/>
          <p:nvPr/>
        </p:nvSpPr>
        <p:spPr>
          <a:xfrm>
            <a:off x="6227064" y="1837944"/>
            <a:ext cx="2414016" cy="181965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Heart sounds recorded within 6 hours of repeat echocardiogram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7F6E154F-AF48-D91B-33BA-FA71B68D45C2}"/>
              </a:ext>
            </a:extLst>
          </p:cNvPr>
          <p:cNvCxnSpPr>
            <a:cxnSpLocks/>
          </p:cNvCxnSpPr>
          <p:nvPr/>
        </p:nvCxnSpPr>
        <p:spPr>
          <a:xfrm>
            <a:off x="5868895" y="2747772"/>
            <a:ext cx="33229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6F11D293-BAB2-FC08-294F-19A0A88A8664}"/>
              </a:ext>
            </a:extLst>
          </p:cNvPr>
          <p:cNvCxnSpPr>
            <a:cxnSpLocks/>
            <a:stCxn id="8" idx="3"/>
          </p:cNvCxnSpPr>
          <p:nvPr/>
        </p:nvCxnSpPr>
        <p:spPr>
          <a:xfrm>
            <a:off x="3178262" y="3529585"/>
            <a:ext cx="278170" cy="36118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9151D5C0-E2C2-CF23-D017-9B51EAE1DADE}"/>
              </a:ext>
            </a:extLst>
          </p:cNvPr>
          <p:cNvSpPr/>
          <p:nvPr/>
        </p:nvSpPr>
        <p:spPr>
          <a:xfrm>
            <a:off x="3456432" y="3890771"/>
            <a:ext cx="2414016" cy="151790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&gt;50 babies &gt;37 weeks gestation referred for echocardiogram due to new murmur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449D29F-6DC5-3ADF-9C5F-02BCB3ED74F6}"/>
              </a:ext>
            </a:extLst>
          </p:cNvPr>
          <p:cNvSpPr/>
          <p:nvPr/>
        </p:nvSpPr>
        <p:spPr>
          <a:xfrm>
            <a:off x="6227064" y="3890771"/>
            <a:ext cx="2414016" cy="151790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Heart sounds recorded directly before or after echocardiogram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6D0CB372-0D1A-7E3A-41CE-CFA52816BA42}"/>
              </a:ext>
            </a:extLst>
          </p:cNvPr>
          <p:cNvCxnSpPr>
            <a:cxnSpLocks/>
          </p:cNvCxnSpPr>
          <p:nvPr/>
        </p:nvCxnSpPr>
        <p:spPr>
          <a:xfrm>
            <a:off x="5868895" y="4649723"/>
            <a:ext cx="33229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>
            <a:extLst>
              <a:ext uri="{FF2B5EF4-FFF2-40B4-BE49-F238E27FC236}">
                <a16:creationId xmlns:a16="http://schemas.microsoft.com/office/drawing/2014/main" id="{3B1EAE6B-166A-AC75-4C6B-59646150F547}"/>
              </a:ext>
            </a:extLst>
          </p:cNvPr>
          <p:cNvSpPr/>
          <p:nvPr/>
        </p:nvSpPr>
        <p:spPr>
          <a:xfrm>
            <a:off x="8971817" y="3599688"/>
            <a:ext cx="3151631" cy="180898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Assessment of accuracy of heart sound recordings used to predict echocardiogram findings via machine learning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47D3B5D7-7ACB-9673-A548-F8EA958B400C}"/>
              </a:ext>
            </a:extLst>
          </p:cNvPr>
          <p:cNvSpPr/>
          <p:nvPr/>
        </p:nvSpPr>
        <p:spPr>
          <a:xfrm>
            <a:off x="8982456" y="292608"/>
            <a:ext cx="3140992" cy="122529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Recordings assessed for quality by interpretation with existing Eko+ application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3B89192E-106F-C414-4209-BA310FF5115F}"/>
              </a:ext>
            </a:extLst>
          </p:cNvPr>
          <p:cNvCxnSpPr>
            <a:cxnSpLocks/>
          </p:cNvCxnSpPr>
          <p:nvPr/>
        </p:nvCxnSpPr>
        <p:spPr>
          <a:xfrm flipV="1">
            <a:off x="8645623" y="902208"/>
            <a:ext cx="332290" cy="914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73AF9C11-E783-8BB7-C796-CAE9E58311F3}"/>
              </a:ext>
            </a:extLst>
          </p:cNvPr>
          <p:cNvCxnSpPr>
            <a:cxnSpLocks/>
          </p:cNvCxnSpPr>
          <p:nvPr/>
        </p:nvCxnSpPr>
        <p:spPr>
          <a:xfrm>
            <a:off x="8641080" y="3147461"/>
            <a:ext cx="330737" cy="51013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18C75AEF-C5D4-ACBF-E94C-C27B9B39923B}"/>
              </a:ext>
            </a:extLst>
          </p:cNvPr>
          <p:cNvCxnSpPr>
            <a:cxnSpLocks/>
            <a:stCxn id="21" idx="3"/>
            <a:endCxn id="31" idx="1"/>
          </p:cNvCxnSpPr>
          <p:nvPr/>
        </p:nvCxnSpPr>
        <p:spPr>
          <a:xfrm flipV="1">
            <a:off x="8641080" y="4504181"/>
            <a:ext cx="330737" cy="14554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ectangle 42">
            <a:extLst>
              <a:ext uri="{FF2B5EF4-FFF2-40B4-BE49-F238E27FC236}">
                <a16:creationId xmlns:a16="http://schemas.microsoft.com/office/drawing/2014/main" id="{DD8B2545-3676-E8A1-D011-064C94629456}"/>
              </a:ext>
            </a:extLst>
          </p:cNvPr>
          <p:cNvSpPr/>
          <p:nvPr/>
        </p:nvSpPr>
        <p:spPr>
          <a:xfrm>
            <a:off x="99463" y="5621272"/>
            <a:ext cx="11952330" cy="11506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00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Underlying data:</a:t>
            </a:r>
          </a:p>
          <a:p>
            <a:r>
              <a:rPr lang="en-GB" sz="100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Babies with murmur on NIPE from echo requests:			70/year</a:t>
            </a:r>
          </a:p>
          <a:p>
            <a:r>
              <a:rPr lang="en-GB" sz="100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Babies on the neonatal unit having an echo for a new murmur:		72/year</a:t>
            </a:r>
          </a:p>
          <a:p>
            <a:r>
              <a:rPr lang="en-GB" sz="1000" i="1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Babies treated with ibuprofen / paracetamol from badger:		50/year</a:t>
            </a:r>
          </a:p>
          <a:p>
            <a:r>
              <a:rPr lang="en-GB" sz="100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Number of </a:t>
            </a:r>
            <a:r>
              <a:rPr lang="en-GB" sz="1000" dirty="0" err="1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echos</a:t>
            </a:r>
            <a:r>
              <a:rPr lang="en-GB" sz="100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of babies on treatment for PDA from echo requests	106/year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E029E29-4E53-720E-CBDD-BA402ADE3470}"/>
              </a:ext>
            </a:extLst>
          </p:cNvPr>
          <p:cNvSpPr/>
          <p:nvPr/>
        </p:nvSpPr>
        <p:spPr>
          <a:xfrm>
            <a:off x="8971817" y="1837944"/>
            <a:ext cx="1575816" cy="1158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Heart sound recordings on further repeat echocardiogram for at least 20 babies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C91E4D93-B784-C6EE-39FB-988EEC83D9FA}"/>
              </a:ext>
            </a:extLst>
          </p:cNvPr>
          <p:cNvCxnSpPr>
            <a:cxnSpLocks/>
            <a:stCxn id="12" idx="3"/>
          </p:cNvCxnSpPr>
          <p:nvPr/>
        </p:nvCxnSpPr>
        <p:spPr>
          <a:xfrm flipV="1">
            <a:off x="8641080" y="2283714"/>
            <a:ext cx="336833" cy="46405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E1AB348D-136F-3657-2FA0-F9EAEE01CD1F}"/>
              </a:ext>
            </a:extLst>
          </p:cNvPr>
          <p:cNvSpPr/>
          <p:nvPr/>
        </p:nvSpPr>
        <p:spPr>
          <a:xfrm>
            <a:off x="10878369" y="1837943"/>
            <a:ext cx="1245079" cy="115899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Basic exploratory repeated measures analysis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2C35C644-CBA7-F809-2390-ABE4EAFE9FAA}"/>
              </a:ext>
            </a:extLst>
          </p:cNvPr>
          <p:cNvCxnSpPr>
            <a:cxnSpLocks/>
            <a:stCxn id="3" idx="3"/>
            <a:endCxn id="23" idx="1"/>
          </p:cNvCxnSpPr>
          <p:nvPr/>
        </p:nvCxnSpPr>
        <p:spPr>
          <a:xfrm flipV="1">
            <a:off x="10547633" y="2417443"/>
            <a:ext cx="330736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ectangle 36">
            <a:extLst>
              <a:ext uri="{FF2B5EF4-FFF2-40B4-BE49-F238E27FC236}">
                <a16:creationId xmlns:a16="http://schemas.microsoft.com/office/drawing/2014/main" id="{B159C3D9-24C7-C924-ACDD-87ABF2C96EEB}"/>
              </a:ext>
            </a:extLst>
          </p:cNvPr>
          <p:cNvSpPr/>
          <p:nvPr/>
        </p:nvSpPr>
        <p:spPr>
          <a:xfrm rot="16200000">
            <a:off x="-313493" y="3303450"/>
            <a:ext cx="1225297" cy="46217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Arm 2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2DA9184F-4C38-FAB9-5918-34255B6DD14B}"/>
              </a:ext>
            </a:extLst>
          </p:cNvPr>
          <p:cNvSpPr/>
          <p:nvPr/>
        </p:nvSpPr>
        <p:spPr>
          <a:xfrm rot="16200000">
            <a:off x="-305872" y="665027"/>
            <a:ext cx="1225294" cy="46217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Arm 1</a:t>
            </a:r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45074959-4C83-02BD-6677-919D40BC98C0}"/>
              </a:ext>
            </a:extLst>
          </p:cNvPr>
          <p:cNvCxnSpPr>
            <a:cxnSpLocks/>
            <a:stCxn id="38" idx="2"/>
            <a:endCxn id="2" idx="1"/>
          </p:cNvCxnSpPr>
          <p:nvPr/>
        </p:nvCxnSpPr>
        <p:spPr>
          <a:xfrm flipV="1">
            <a:off x="537862" y="896112"/>
            <a:ext cx="226384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9323145E-A4C7-453A-1B0C-702257C82866}"/>
              </a:ext>
            </a:extLst>
          </p:cNvPr>
          <p:cNvCxnSpPr>
            <a:cxnSpLocks/>
          </p:cNvCxnSpPr>
          <p:nvPr/>
        </p:nvCxnSpPr>
        <p:spPr>
          <a:xfrm flipV="1">
            <a:off x="524923" y="3556255"/>
            <a:ext cx="226384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009271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052BBC4-16AB-43B5-D044-FBAB98F683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06" y="828830"/>
            <a:ext cx="12138188" cy="5200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63047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B6A597-5E96-E847-F180-0C4B345CE4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3F90B3A-E733-5BA7-3505-1974F5DC8BD4}"/>
              </a:ext>
            </a:extLst>
          </p:cNvPr>
          <p:cNvSpPr/>
          <p:nvPr/>
        </p:nvSpPr>
        <p:spPr>
          <a:xfrm>
            <a:off x="764246" y="902589"/>
            <a:ext cx="2414016" cy="122529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u="sng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&gt;</a:t>
            </a:r>
            <a:r>
              <a:rPr lang="en-GB" sz="160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100 Babies undergoing NIPE in first 72 hours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CDDB7FE8-622E-5732-42CF-D5C16F06F0F7}"/>
              </a:ext>
            </a:extLst>
          </p:cNvPr>
          <p:cNvCxnSpPr>
            <a:cxnSpLocks/>
            <a:stCxn id="2" idx="3"/>
            <a:endCxn id="5" idx="1"/>
          </p:cNvCxnSpPr>
          <p:nvPr/>
        </p:nvCxnSpPr>
        <p:spPr>
          <a:xfrm>
            <a:off x="3178262" y="1515237"/>
            <a:ext cx="27817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>
            <a:extLst>
              <a:ext uri="{FF2B5EF4-FFF2-40B4-BE49-F238E27FC236}">
                <a16:creationId xmlns:a16="http://schemas.microsoft.com/office/drawing/2014/main" id="{38397157-1A04-7F83-BA82-1F2F5084DC66}"/>
              </a:ext>
            </a:extLst>
          </p:cNvPr>
          <p:cNvSpPr/>
          <p:nvPr/>
        </p:nvSpPr>
        <p:spPr>
          <a:xfrm>
            <a:off x="3456432" y="902589"/>
            <a:ext cx="2414016" cy="122529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NIPE </a:t>
            </a:r>
            <a:r>
              <a:rPr lang="en-GB" sz="1600" dirty="0" err="1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practitoner</a:t>
            </a:r>
            <a:r>
              <a:rPr lang="en-GB" sz="160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records heart sounds of at least 5 babies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96614283-107D-F085-C861-BD1315628FFF}"/>
              </a:ext>
            </a:extLst>
          </p:cNvPr>
          <p:cNvCxnSpPr>
            <a:cxnSpLocks/>
          </p:cNvCxnSpPr>
          <p:nvPr/>
        </p:nvCxnSpPr>
        <p:spPr>
          <a:xfrm flipV="1">
            <a:off x="5868895" y="1515237"/>
            <a:ext cx="332290" cy="914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F3BF51BB-CDC7-9667-2AF6-F576CCE34BD9}"/>
              </a:ext>
            </a:extLst>
          </p:cNvPr>
          <p:cNvSpPr/>
          <p:nvPr/>
        </p:nvSpPr>
        <p:spPr>
          <a:xfrm>
            <a:off x="6227064" y="911733"/>
            <a:ext cx="2414016" cy="122529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Qualitative surveys/interviews of clinicians and carers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0E16146-7BF3-79CF-1B07-6FF3A72B3A80}"/>
              </a:ext>
            </a:extLst>
          </p:cNvPr>
          <p:cNvSpPr/>
          <p:nvPr/>
        </p:nvSpPr>
        <p:spPr>
          <a:xfrm>
            <a:off x="764246" y="3536062"/>
            <a:ext cx="2414016" cy="122529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u="sng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&gt;</a:t>
            </a:r>
            <a:r>
              <a:rPr lang="en-GB" sz="160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100 Babies &lt; 3m old undergoing echocardiogram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735287E5-9C79-10FC-697F-14D1092CF084}"/>
              </a:ext>
            </a:extLst>
          </p:cNvPr>
          <p:cNvCxnSpPr>
            <a:cxnSpLocks/>
          </p:cNvCxnSpPr>
          <p:nvPr/>
        </p:nvCxnSpPr>
        <p:spPr>
          <a:xfrm flipV="1">
            <a:off x="3178262" y="4048125"/>
            <a:ext cx="278170" cy="2286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B3111155-F86F-C67D-7069-ED470899CE48}"/>
              </a:ext>
            </a:extLst>
          </p:cNvPr>
          <p:cNvSpPr/>
          <p:nvPr/>
        </p:nvSpPr>
        <p:spPr>
          <a:xfrm>
            <a:off x="3456432" y="2457069"/>
            <a:ext cx="2414016" cy="181965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u="sng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&gt;</a:t>
            </a:r>
            <a:r>
              <a:rPr lang="en-GB" sz="160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50 babies with previous structural findings on echocardiogram</a:t>
            </a:r>
          </a:p>
          <a:p>
            <a:pPr algn="ctr"/>
            <a:r>
              <a:rPr lang="en-GB" sz="160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of PDA / VSD / valve stenosis undergoing repeat echocardiogram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59CFDDA-33A0-B06C-572E-CB2C7DA03FAB}"/>
              </a:ext>
            </a:extLst>
          </p:cNvPr>
          <p:cNvSpPr/>
          <p:nvPr/>
        </p:nvSpPr>
        <p:spPr>
          <a:xfrm>
            <a:off x="6227064" y="2457068"/>
            <a:ext cx="2414016" cy="357072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Heart sounds recorded within 6 hours of echocardiogram alongside heart rate, respiratory rate, oxygen saturations from right arm and foot</a:t>
            </a:r>
          </a:p>
          <a:p>
            <a:pPr algn="ctr"/>
            <a:endParaRPr lang="en-GB" sz="1600" dirty="0">
              <a:solidFill>
                <a:sysClr val="windowText" lastClr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GB" sz="160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Qualitative survey of carers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D88487BF-D0BE-85F2-616D-8AA25EB4C5C7}"/>
              </a:ext>
            </a:extLst>
          </p:cNvPr>
          <p:cNvCxnSpPr>
            <a:cxnSpLocks/>
          </p:cNvCxnSpPr>
          <p:nvPr/>
        </p:nvCxnSpPr>
        <p:spPr>
          <a:xfrm>
            <a:off x="5868895" y="3366897"/>
            <a:ext cx="33229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98E74705-CDF0-7479-DDAB-FFDF982391B6}"/>
              </a:ext>
            </a:extLst>
          </p:cNvPr>
          <p:cNvCxnSpPr>
            <a:cxnSpLocks/>
          </p:cNvCxnSpPr>
          <p:nvPr/>
        </p:nvCxnSpPr>
        <p:spPr>
          <a:xfrm>
            <a:off x="3178262" y="4276725"/>
            <a:ext cx="278170" cy="23317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5E29174B-2658-B7C9-BAA0-79BAF35EA2A6}"/>
              </a:ext>
            </a:extLst>
          </p:cNvPr>
          <p:cNvCxnSpPr>
            <a:cxnSpLocks/>
          </p:cNvCxnSpPr>
          <p:nvPr/>
        </p:nvCxnSpPr>
        <p:spPr>
          <a:xfrm>
            <a:off x="5868895" y="5268848"/>
            <a:ext cx="33229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0B859517-2C7B-C209-E5E0-323D3DF5DAC8}"/>
              </a:ext>
            </a:extLst>
          </p:cNvPr>
          <p:cNvSpPr/>
          <p:nvPr/>
        </p:nvSpPr>
        <p:spPr>
          <a:xfrm>
            <a:off x="8988937" y="2436087"/>
            <a:ext cx="3131906" cy="161203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Assessment of accuracy of heart sound recordings used to predict echocardiogram findings via machine learning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4209FA4-A997-15F4-A2F3-D8CDEC23723F}"/>
              </a:ext>
            </a:extLst>
          </p:cNvPr>
          <p:cNvSpPr/>
          <p:nvPr/>
        </p:nvSpPr>
        <p:spPr>
          <a:xfrm>
            <a:off x="8997696" y="911733"/>
            <a:ext cx="3125752" cy="122529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Recordings assessed for quality by interpretation with existing Eko+ application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27263194-6401-5B7B-CB0F-6FFE84B4B13E}"/>
              </a:ext>
            </a:extLst>
          </p:cNvPr>
          <p:cNvCxnSpPr>
            <a:cxnSpLocks/>
          </p:cNvCxnSpPr>
          <p:nvPr/>
        </p:nvCxnSpPr>
        <p:spPr>
          <a:xfrm flipV="1">
            <a:off x="8645623" y="1521333"/>
            <a:ext cx="332290" cy="914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>
            <a:extLst>
              <a:ext uri="{FF2B5EF4-FFF2-40B4-BE49-F238E27FC236}">
                <a16:creationId xmlns:a16="http://schemas.microsoft.com/office/drawing/2014/main" id="{D5BEE3DA-55DC-AA07-BCED-C1331791E2C5}"/>
              </a:ext>
            </a:extLst>
          </p:cNvPr>
          <p:cNvSpPr/>
          <p:nvPr/>
        </p:nvSpPr>
        <p:spPr>
          <a:xfrm>
            <a:off x="8997695" y="4374037"/>
            <a:ext cx="3123148" cy="163591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Basic exploratory analysis targeting </a:t>
            </a:r>
            <a:r>
              <a:rPr lang="en-GB" sz="1600" u="sng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&gt;</a:t>
            </a:r>
            <a:r>
              <a:rPr lang="en-GB" sz="160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 babies to assess whether repeated phonocardiograms on different days improve prediction of congenital heart disease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495161B5-0370-D62A-85AA-5DCBD13B957E}"/>
              </a:ext>
            </a:extLst>
          </p:cNvPr>
          <p:cNvCxnSpPr>
            <a:cxnSpLocks/>
            <a:endCxn id="25" idx="2"/>
          </p:cNvCxnSpPr>
          <p:nvPr/>
        </p:nvCxnSpPr>
        <p:spPr>
          <a:xfrm flipV="1">
            <a:off x="10546382" y="6009952"/>
            <a:ext cx="12887" cy="26397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26">
            <a:extLst>
              <a:ext uri="{FF2B5EF4-FFF2-40B4-BE49-F238E27FC236}">
                <a16:creationId xmlns:a16="http://schemas.microsoft.com/office/drawing/2014/main" id="{5B56916E-1DC5-190B-F949-B42D724C2060}"/>
              </a:ext>
            </a:extLst>
          </p:cNvPr>
          <p:cNvSpPr/>
          <p:nvPr/>
        </p:nvSpPr>
        <p:spPr>
          <a:xfrm rot="16200000">
            <a:off x="-313493" y="3922575"/>
            <a:ext cx="1225297" cy="46217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Arm 2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B84BFF79-19C7-5F5D-9AC5-44F6AD035C2D}"/>
              </a:ext>
            </a:extLst>
          </p:cNvPr>
          <p:cNvSpPr/>
          <p:nvPr/>
        </p:nvSpPr>
        <p:spPr>
          <a:xfrm rot="16200000">
            <a:off x="-305872" y="1284152"/>
            <a:ext cx="1225294" cy="46217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Arm 1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B22C015C-C3AD-1DFE-3904-0C396EE71617}"/>
              </a:ext>
            </a:extLst>
          </p:cNvPr>
          <p:cNvCxnSpPr>
            <a:cxnSpLocks/>
            <a:stCxn id="28" idx="2"/>
            <a:endCxn id="2" idx="1"/>
          </p:cNvCxnSpPr>
          <p:nvPr/>
        </p:nvCxnSpPr>
        <p:spPr>
          <a:xfrm flipV="1">
            <a:off x="537862" y="1515237"/>
            <a:ext cx="226384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11045D4B-E334-8EFD-8902-F668FEFB8C14}"/>
              </a:ext>
            </a:extLst>
          </p:cNvPr>
          <p:cNvCxnSpPr>
            <a:cxnSpLocks/>
          </p:cNvCxnSpPr>
          <p:nvPr/>
        </p:nvCxnSpPr>
        <p:spPr>
          <a:xfrm flipV="1">
            <a:off x="524923" y="4175380"/>
            <a:ext cx="226384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780C40FD-F013-28C5-31E6-01CA8AAD7765}"/>
              </a:ext>
            </a:extLst>
          </p:cNvPr>
          <p:cNvCxnSpPr>
            <a:cxnSpLocks/>
          </p:cNvCxnSpPr>
          <p:nvPr/>
        </p:nvCxnSpPr>
        <p:spPr>
          <a:xfrm flipV="1">
            <a:off x="8648389" y="3350122"/>
            <a:ext cx="330736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ectangle 36">
            <a:extLst>
              <a:ext uri="{FF2B5EF4-FFF2-40B4-BE49-F238E27FC236}">
                <a16:creationId xmlns:a16="http://schemas.microsoft.com/office/drawing/2014/main" id="{C5601DF6-2E9A-9A91-E2BE-4CC2C1C9995B}"/>
              </a:ext>
            </a:extLst>
          </p:cNvPr>
          <p:cNvSpPr/>
          <p:nvPr/>
        </p:nvSpPr>
        <p:spPr>
          <a:xfrm>
            <a:off x="3454879" y="143639"/>
            <a:ext cx="2414016" cy="61264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Clinical pathway for baby remains the same</a:t>
            </a: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B810437F-9D7E-246D-36E0-62D3499A9FCF}"/>
              </a:ext>
            </a:extLst>
          </p:cNvPr>
          <p:cNvCxnSpPr>
            <a:cxnSpLocks/>
          </p:cNvCxnSpPr>
          <p:nvPr/>
        </p:nvCxnSpPr>
        <p:spPr>
          <a:xfrm flipV="1">
            <a:off x="5868895" y="431293"/>
            <a:ext cx="332290" cy="914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ectangle 38">
            <a:extLst>
              <a:ext uri="{FF2B5EF4-FFF2-40B4-BE49-F238E27FC236}">
                <a16:creationId xmlns:a16="http://schemas.microsoft.com/office/drawing/2014/main" id="{0B7D7D1A-6030-5B9F-6BB9-12C9C05DE948}"/>
              </a:ext>
            </a:extLst>
          </p:cNvPr>
          <p:cNvSpPr/>
          <p:nvPr/>
        </p:nvSpPr>
        <p:spPr>
          <a:xfrm>
            <a:off x="6227063" y="150295"/>
            <a:ext cx="5894832" cy="61264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Baby eligible for arm 2 if referred for echocardiogram due to clinician auscultation of murmur</a:t>
            </a:r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3660D77D-A88F-546E-D868-956FCA51FD3D}"/>
              </a:ext>
            </a:extLst>
          </p:cNvPr>
          <p:cNvCxnSpPr>
            <a:cxnSpLocks/>
            <a:stCxn id="5" idx="0"/>
            <a:endCxn id="37" idx="2"/>
          </p:cNvCxnSpPr>
          <p:nvPr/>
        </p:nvCxnSpPr>
        <p:spPr>
          <a:xfrm flipH="1" flipV="1">
            <a:off x="4661887" y="756287"/>
            <a:ext cx="1553" cy="14630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ectangle 42">
            <a:extLst>
              <a:ext uri="{FF2B5EF4-FFF2-40B4-BE49-F238E27FC236}">
                <a16:creationId xmlns:a16="http://schemas.microsoft.com/office/drawing/2014/main" id="{7106CE53-4166-F787-372C-664037D447C4}"/>
              </a:ext>
            </a:extLst>
          </p:cNvPr>
          <p:cNvSpPr/>
          <p:nvPr/>
        </p:nvSpPr>
        <p:spPr>
          <a:xfrm>
            <a:off x="3454879" y="6218126"/>
            <a:ext cx="2414016" cy="61264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Clinical pathway for baby remains the same</a:t>
            </a:r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DF841E73-9C2E-B290-4332-B2CCC03C5D36}"/>
              </a:ext>
            </a:extLst>
          </p:cNvPr>
          <p:cNvCxnSpPr>
            <a:cxnSpLocks/>
          </p:cNvCxnSpPr>
          <p:nvPr/>
        </p:nvCxnSpPr>
        <p:spPr>
          <a:xfrm>
            <a:off x="4652379" y="5942952"/>
            <a:ext cx="0" cy="24613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F139D058-C6DC-AE26-DA65-838296D756D9}"/>
              </a:ext>
            </a:extLst>
          </p:cNvPr>
          <p:cNvCxnSpPr>
            <a:cxnSpLocks/>
          </p:cNvCxnSpPr>
          <p:nvPr/>
        </p:nvCxnSpPr>
        <p:spPr>
          <a:xfrm flipV="1">
            <a:off x="5868895" y="6499124"/>
            <a:ext cx="332290" cy="914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Rectangle 50">
            <a:extLst>
              <a:ext uri="{FF2B5EF4-FFF2-40B4-BE49-F238E27FC236}">
                <a16:creationId xmlns:a16="http://schemas.microsoft.com/office/drawing/2014/main" id="{ADADCB11-9836-8A11-3AD7-A97DF28CBE56}"/>
              </a:ext>
            </a:extLst>
          </p:cNvPr>
          <p:cNvSpPr/>
          <p:nvPr/>
        </p:nvSpPr>
        <p:spPr>
          <a:xfrm>
            <a:off x="6227064" y="6218126"/>
            <a:ext cx="5885020" cy="61264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Baby eligible for repeat phonocardiogram if standard clinical pathway involves repeat echocardiogram &lt;3 months of age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158112F-A01B-DDBA-E2D6-1FCB3CA39ED7}"/>
              </a:ext>
            </a:extLst>
          </p:cNvPr>
          <p:cNvSpPr/>
          <p:nvPr/>
        </p:nvSpPr>
        <p:spPr>
          <a:xfrm>
            <a:off x="3456432" y="4509896"/>
            <a:ext cx="2414016" cy="151790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u="sng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&gt;</a:t>
            </a:r>
            <a:r>
              <a:rPr lang="en-GB" sz="160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50 babies </a:t>
            </a:r>
            <a:r>
              <a:rPr lang="en-GB" sz="1600" u="sng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&gt;</a:t>
            </a:r>
            <a:r>
              <a:rPr lang="en-GB" sz="160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37 weeks gestation referred for echocardiogram due to new murmur</a:t>
            </a:r>
          </a:p>
        </p:txBody>
      </p:sp>
    </p:spTree>
    <p:extLst>
      <p:ext uri="{BB962C8B-B14F-4D97-AF65-F5344CB8AC3E}">
        <p14:creationId xmlns:p14="http://schemas.microsoft.com/office/powerpoint/2010/main" val="28060576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0970A34D-A06E-CE53-2138-53758200D23B}"/>
              </a:ext>
            </a:extLst>
          </p:cNvPr>
          <p:cNvCxnSpPr>
            <a:cxnSpLocks/>
          </p:cNvCxnSpPr>
          <p:nvPr/>
        </p:nvCxnSpPr>
        <p:spPr>
          <a:xfrm>
            <a:off x="7491414" y="1557013"/>
            <a:ext cx="0" cy="147193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F0B1B15D-99A5-29C1-521D-96680294480D}"/>
              </a:ext>
            </a:extLst>
          </p:cNvPr>
          <p:cNvCxnSpPr>
            <a:cxnSpLocks/>
          </p:cNvCxnSpPr>
          <p:nvPr/>
        </p:nvCxnSpPr>
        <p:spPr>
          <a:xfrm>
            <a:off x="7481888" y="859151"/>
            <a:ext cx="0" cy="36290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2F657548-A122-BBAD-91E7-DFAB2BEAC90A}"/>
              </a:ext>
            </a:extLst>
          </p:cNvPr>
          <p:cNvCxnSpPr>
            <a:cxnSpLocks/>
          </p:cNvCxnSpPr>
          <p:nvPr/>
        </p:nvCxnSpPr>
        <p:spPr>
          <a:xfrm>
            <a:off x="2290764" y="2092325"/>
            <a:ext cx="0" cy="147193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CA18C616-B217-CA99-E415-FDDC4BD1F89D}"/>
              </a:ext>
            </a:extLst>
          </p:cNvPr>
          <p:cNvCxnSpPr>
            <a:cxnSpLocks/>
            <a:endCxn id="8" idx="0"/>
          </p:cNvCxnSpPr>
          <p:nvPr/>
        </p:nvCxnSpPr>
        <p:spPr>
          <a:xfrm>
            <a:off x="2281238" y="1099188"/>
            <a:ext cx="0" cy="36290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8658E8C2-0542-518A-C382-A617EB25EF6A}"/>
              </a:ext>
            </a:extLst>
          </p:cNvPr>
          <p:cNvSpPr/>
          <p:nvPr/>
        </p:nvSpPr>
        <p:spPr>
          <a:xfrm>
            <a:off x="289942" y="535301"/>
            <a:ext cx="3982593" cy="78104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>
                <a:solidFill>
                  <a:sysClr val="windowText" lastClr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Babies have the newborn infant physical examination (‘baby check’) as normal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2A31649-15DA-0941-37B3-C2C656B0852E}"/>
              </a:ext>
            </a:extLst>
          </p:cNvPr>
          <p:cNvSpPr/>
          <p:nvPr/>
        </p:nvSpPr>
        <p:spPr>
          <a:xfrm>
            <a:off x="289942" y="1462089"/>
            <a:ext cx="3982592" cy="78390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>
                <a:solidFill>
                  <a:sysClr val="windowText" lastClr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Heart sounds are recorded during baby check with digital stethoscope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C626732E-DB55-DA5E-7D0F-562B6842D51F}"/>
              </a:ext>
            </a:extLst>
          </p:cNvPr>
          <p:cNvCxnSpPr>
            <a:cxnSpLocks/>
          </p:cNvCxnSpPr>
          <p:nvPr/>
        </p:nvCxnSpPr>
        <p:spPr>
          <a:xfrm>
            <a:off x="1181960" y="2318383"/>
            <a:ext cx="0" cy="11240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7C419F09-2A7D-08EC-B23D-9AFD62BB7E57}"/>
              </a:ext>
            </a:extLst>
          </p:cNvPr>
          <p:cNvSpPr/>
          <p:nvPr/>
        </p:nvSpPr>
        <p:spPr>
          <a:xfrm>
            <a:off x="289942" y="2440309"/>
            <a:ext cx="1791844" cy="99059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>
                <a:solidFill>
                  <a:sysClr val="windowText" lastClr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Recorded heart sounds used for research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1206A8F-B641-B046-8F88-114E85EA8B0E}"/>
              </a:ext>
            </a:extLst>
          </p:cNvPr>
          <p:cNvSpPr/>
          <p:nvPr/>
        </p:nvSpPr>
        <p:spPr>
          <a:xfrm>
            <a:off x="289942" y="3592838"/>
            <a:ext cx="3992115" cy="112394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>
                <a:solidFill>
                  <a:sysClr val="windowText" lastClr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Anything discovered on the baby check will be assessed as normal – there will be no change to the babies tests or treatment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7DB1D89D-62E4-79F9-7549-74701FC57250}"/>
              </a:ext>
            </a:extLst>
          </p:cNvPr>
          <p:cNvCxnSpPr>
            <a:cxnSpLocks/>
          </p:cNvCxnSpPr>
          <p:nvPr/>
        </p:nvCxnSpPr>
        <p:spPr>
          <a:xfrm>
            <a:off x="3475481" y="2308857"/>
            <a:ext cx="0" cy="13145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B4E3D404-256B-1D7B-F36F-C9C9AFBCB2D2}"/>
              </a:ext>
            </a:extLst>
          </p:cNvPr>
          <p:cNvSpPr/>
          <p:nvPr/>
        </p:nvSpPr>
        <p:spPr>
          <a:xfrm>
            <a:off x="2490213" y="2445080"/>
            <a:ext cx="1791844" cy="99059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>
                <a:solidFill>
                  <a:sysClr val="windowText" lastClr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Parent/carer asked to fill out a short survey </a:t>
            </a:r>
          </a:p>
          <a:p>
            <a:pPr algn="ctr"/>
            <a:r>
              <a:rPr lang="en-GB" sz="1600" dirty="0">
                <a:solidFill>
                  <a:sysClr val="windowText" lastClr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(6 questions)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2222068F-69B2-7AF9-677D-6F7744C744A3}"/>
              </a:ext>
            </a:extLst>
          </p:cNvPr>
          <p:cNvCxnSpPr>
            <a:cxnSpLocks/>
          </p:cNvCxnSpPr>
          <p:nvPr/>
        </p:nvCxnSpPr>
        <p:spPr>
          <a:xfrm>
            <a:off x="1174750" y="2308857"/>
            <a:ext cx="231457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618EA115-8EF1-212D-8E0C-3AE677AC46D6}"/>
              </a:ext>
            </a:extLst>
          </p:cNvPr>
          <p:cNvSpPr/>
          <p:nvPr/>
        </p:nvSpPr>
        <p:spPr>
          <a:xfrm>
            <a:off x="5629275" y="628651"/>
            <a:ext cx="3724275" cy="470538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>
                <a:solidFill>
                  <a:sysClr val="windowText" lastClr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Babies have the newborn infant physical examination (‘baby check’) as normal</a:t>
            </a:r>
            <a:endParaRPr lang="en-GB" sz="1200" dirty="0">
              <a:solidFill>
                <a:sysClr val="windowText" lastClr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884669F4-1591-6B81-8866-FA05E19844E7}"/>
              </a:ext>
            </a:extLst>
          </p:cNvPr>
          <p:cNvSpPr/>
          <p:nvPr/>
        </p:nvSpPr>
        <p:spPr>
          <a:xfrm>
            <a:off x="5629275" y="1226820"/>
            <a:ext cx="3724275" cy="470538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>
                <a:solidFill>
                  <a:sysClr val="windowText" lastClr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Heart sounds are recorded during baby check with digital stethoscope</a:t>
            </a:r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DC80DF53-AD88-A671-3B69-C75360A30E27}"/>
              </a:ext>
            </a:extLst>
          </p:cNvPr>
          <p:cNvSpPr/>
          <p:nvPr/>
        </p:nvSpPr>
        <p:spPr>
          <a:xfrm>
            <a:off x="5629276" y="1857055"/>
            <a:ext cx="1724024" cy="104230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>
                <a:solidFill>
                  <a:sysClr val="windowText" lastClr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Recorded heart sounds assessed for quality</a:t>
            </a:r>
          </a:p>
        </p:txBody>
      </p: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C1737F8B-531F-32F7-D9A5-7E8F69474456}"/>
              </a:ext>
            </a:extLst>
          </p:cNvPr>
          <p:cNvSpPr/>
          <p:nvPr/>
        </p:nvSpPr>
        <p:spPr>
          <a:xfrm>
            <a:off x="7620568" y="1860818"/>
            <a:ext cx="1724024" cy="104230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>
                <a:solidFill>
                  <a:sysClr val="windowText" lastClr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Parent/carer asked to fill out a short survey </a:t>
            </a:r>
          </a:p>
          <a:p>
            <a:pPr algn="ctr"/>
            <a:r>
              <a:rPr lang="en-GB" sz="1200" dirty="0">
                <a:solidFill>
                  <a:sysClr val="windowText" lastClr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(6 questions)</a:t>
            </a:r>
          </a:p>
        </p:txBody>
      </p: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C722335F-B08C-6322-EE39-09381DB7668E}"/>
              </a:ext>
            </a:extLst>
          </p:cNvPr>
          <p:cNvSpPr/>
          <p:nvPr/>
        </p:nvSpPr>
        <p:spPr>
          <a:xfrm>
            <a:off x="5620317" y="3059057"/>
            <a:ext cx="3724275" cy="722368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>
                <a:solidFill>
                  <a:sysClr val="windowText" lastClr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Anything discovered on the baby check will be assessed as normal – there will be no change to the baby’s tests or treatment</a:t>
            </a:r>
          </a:p>
        </p:txBody>
      </p: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F92F21D4-491D-D6BF-606C-F170DCB93410}"/>
              </a:ext>
            </a:extLst>
          </p:cNvPr>
          <p:cNvCxnSpPr>
            <a:cxnSpLocks/>
          </p:cNvCxnSpPr>
          <p:nvPr/>
        </p:nvCxnSpPr>
        <p:spPr>
          <a:xfrm>
            <a:off x="6382610" y="1744971"/>
            <a:ext cx="0" cy="11240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49C5D463-921D-6BCB-78F0-84A612227874}"/>
              </a:ext>
            </a:extLst>
          </p:cNvPr>
          <p:cNvCxnSpPr>
            <a:cxnSpLocks/>
          </p:cNvCxnSpPr>
          <p:nvPr/>
        </p:nvCxnSpPr>
        <p:spPr>
          <a:xfrm>
            <a:off x="8676131" y="1735445"/>
            <a:ext cx="0" cy="13145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1E6F29E1-40D2-E284-94C6-A701EE17A883}"/>
              </a:ext>
            </a:extLst>
          </p:cNvPr>
          <p:cNvCxnSpPr>
            <a:cxnSpLocks/>
          </p:cNvCxnSpPr>
          <p:nvPr/>
        </p:nvCxnSpPr>
        <p:spPr>
          <a:xfrm>
            <a:off x="6375400" y="1735445"/>
            <a:ext cx="231457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8" name="Picture 57">
            <a:extLst>
              <a:ext uri="{FF2B5EF4-FFF2-40B4-BE49-F238E27FC236}">
                <a16:creationId xmlns:a16="http://schemas.microsoft.com/office/drawing/2014/main" id="{DB1DB412-139C-14D1-AD3F-5D15EBB520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52115" y="1173272"/>
            <a:ext cx="1038237" cy="1048172"/>
          </a:xfrm>
          <a:prstGeom prst="rect">
            <a:avLst/>
          </a:prstGeom>
          <a:effectLst>
            <a:softEdge rad="31750"/>
          </a:effectLst>
        </p:spPr>
      </p:pic>
    </p:spTree>
    <p:extLst>
      <p:ext uri="{BB962C8B-B14F-4D97-AF65-F5344CB8AC3E}">
        <p14:creationId xmlns:p14="http://schemas.microsoft.com/office/powerpoint/2010/main" val="32347661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CE938E-1CF7-250C-9C98-DCB24E1A1A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D1F79585-938A-743F-879C-F3063D8CDD55}"/>
              </a:ext>
            </a:extLst>
          </p:cNvPr>
          <p:cNvCxnSpPr>
            <a:cxnSpLocks/>
          </p:cNvCxnSpPr>
          <p:nvPr/>
        </p:nvCxnSpPr>
        <p:spPr>
          <a:xfrm>
            <a:off x="9872311" y="1379869"/>
            <a:ext cx="0" cy="950905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ED3CB84E-AF6A-AF55-4354-EEBFDA5816DF}"/>
              </a:ext>
            </a:extLst>
          </p:cNvPr>
          <p:cNvCxnSpPr>
            <a:cxnSpLocks/>
          </p:cNvCxnSpPr>
          <p:nvPr/>
        </p:nvCxnSpPr>
        <p:spPr>
          <a:xfrm>
            <a:off x="7491414" y="1557013"/>
            <a:ext cx="0" cy="147193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F8F253C2-285B-CE2F-61D2-090CB172CD00}"/>
              </a:ext>
            </a:extLst>
          </p:cNvPr>
          <p:cNvCxnSpPr>
            <a:cxnSpLocks/>
          </p:cNvCxnSpPr>
          <p:nvPr/>
        </p:nvCxnSpPr>
        <p:spPr>
          <a:xfrm>
            <a:off x="7481888" y="669371"/>
            <a:ext cx="0" cy="36290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8CC312F3-CD3C-FF2F-55B3-D58C14A93270}"/>
              </a:ext>
            </a:extLst>
          </p:cNvPr>
          <p:cNvSpPr/>
          <p:nvPr/>
        </p:nvSpPr>
        <p:spPr>
          <a:xfrm>
            <a:off x="5629275" y="438871"/>
            <a:ext cx="3724275" cy="470538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>
                <a:solidFill>
                  <a:sysClr val="windowText" lastClr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Babies already having an echocardiogram </a:t>
            </a:r>
          </a:p>
          <a:p>
            <a:pPr algn="ctr"/>
            <a:r>
              <a:rPr lang="en-GB" sz="1200" dirty="0">
                <a:solidFill>
                  <a:sysClr val="windowText" lastClr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(ultrasound scan of the heart)</a:t>
            </a:r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2F13CBA5-8608-7C15-AC65-BBF8D2433B1E}"/>
              </a:ext>
            </a:extLst>
          </p:cNvPr>
          <p:cNvSpPr/>
          <p:nvPr/>
        </p:nvSpPr>
        <p:spPr>
          <a:xfrm>
            <a:off x="5629275" y="1032272"/>
            <a:ext cx="3724275" cy="665086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>
                <a:solidFill>
                  <a:sysClr val="windowText" lastClr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Heart sounds are recorded with a digital stethoscope just before or after the scan. Heart rate, breathing rate and oxygen levels are recorded</a:t>
            </a:r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0BD24AE1-9B52-928C-7397-970D9C6F955E}"/>
              </a:ext>
            </a:extLst>
          </p:cNvPr>
          <p:cNvSpPr/>
          <p:nvPr/>
        </p:nvSpPr>
        <p:spPr>
          <a:xfrm>
            <a:off x="5629276" y="1857055"/>
            <a:ext cx="1724024" cy="104230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>
                <a:solidFill>
                  <a:sysClr val="windowText" lastClr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Recorded heart sounds analysed against images for research</a:t>
            </a:r>
          </a:p>
        </p:txBody>
      </p: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F15DD386-4230-B91D-279E-B372D216BC2B}"/>
              </a:ext>
            </a:extLst>
          </p:cNvPr>
          <p:cNvSpPr/>
          <p:nvPr/>
        </p:nvSpPr>
        <p:spPr>
          <a:xfrm>
            <a:off x="7620568" y="1860818"/>
            <a:ext cx="1724024" cy="104230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>
                <a:solidFill>
                  <a:sysClr val="windowText" lastClr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Parent/carer asked to fill out a short survey </a:t>
            </a:r>
          </a:p>
          <a:p>
            <a:pPr algn="ctr"/>
            <a:r>
              <a:rPr lang="en-GB" sz="1200" dirty="0">
                <a:solidFill>
                  <a:sysClr val="windowText" lastClr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(6 questions)</a:t>
            </a:r>
          </a:p>
        </p:txBody>
      </p: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4EC37A6F-58E8-E776-B79A-5A41FE7BD1C2}"/>
              </a:ext>
            </a:extLst>
          </p:cNvPr>
          <p:cNvSpPr/>
          <p:nvPr/>
        </p:nvSpPr>
        <p:spPr>
          <a:xfrm>
            <a:off x="5620317" y="3059057"/>
            <a:ext cx="3724275" cy="722368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>
                <a:solidFill>
                  <a:sysClr val="windowText" lastClr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Heart sound recordings will not affect what is done about the results of the heart scan. There will be no change to the baby’s future tests or treatment</a:t>
            </a:r>
          </a:p>
        </p:txBody>
      </p: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A52016E2-15C8-D2B1-B468-2439C24508BB}"/>
              </a:ext>
            </a:extLst>
          </p:cNvPr>
          <p:cNvCxnSpPr>
            <a:cxnSpLocks/>
          </p:cNvCxnSpPr>
          <p:nvPr/>
        </p:nvCxnSpPr>
        <p:spPr>
          <a:xfrm>
            <a:off x="6380229" y="1744971"/>
            <a:ext cx="0" cy="11240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E60A43D0-AD6E-5BEA-DB3C-D8A2A9E79AD8}"/>
              </a:ext>
            </a:extLst>
          </p:cNvPr>
          <p:cNvCxnSpPr>
            <a:cxnSpLocks/>
          </p:cNvCxnSpPr>
          <p:nvPr/>
        </p:nvCxnSpPr>
        <p:spPr>
          <a:xfrm>
            <a:off x="8676131" y="1735445"/>
            <a:ext cx="0" cy="13145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CAE0EDCE-3E52-487F-0DC6-F898FEEBABB7}"/>
              </a:ext>
            </a:extLst>
          </p:cNvPr>
          <p:cNvCxnSpPr>
            <a:cxnSpLocks/>
          </p:cNvCxnSpPr>
          <p:nvPr/>
        </p:nvCxnSpPr>
        <p:spPr>
          <a:xfrm>
            <a:off x="6373019" y="1735445"/>
            <a:ext cx="231457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75D84515-B259-4A62-4EBB-3547D7B31D8B}"/>
              </a:ext>
            </a:extLst>
          </p:cNvPr>
          <p:cNvSpPr/>
          <p:nvPr/>
        </p:nvSpPr>
        <p:spPr>
          <a:xfrm>
            <a:off x="9473745" y="2095506"/>
            <a:ext cx="982031" cy="1685600"/>
          </a:xfrm>
          <a:prstGeom prst="roundRect">
            <a:avLst/>
          </a:prstGeom>
          <a:solidFill>
            <a:schemeClr val="bg1"/>
          </a:solidFill>
          <a:ln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>
                <a:solidFill>
                  <a:sysClr val="windowText" lastClr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If baby booked for repeat heart scan, heart sounds recorded again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BEB6EEC5-3711-CEBD-2D86-5A835C6A4BED}"/>
              </a:ext>
            </a:extLst>
          </p:cNvPr>
          <p:cNvCxnSpPr>
            <a:cxnSpLocks/>
            <a:endCxn id="43" idx="3"/>
          </p:cNvCxnSpPr>
          <p:nvPr/>
        </p:nvCxnSpPr>
        <p:spPr>
          <a:xfrm flipH="1">
            <a:off x="9353550" y="1364815"/>
            <a:ext cx="518761" cy="0"/>
          </a:xfrm>
          <a:prstGeom prst="straightConnector1">
            <a:avLst/>
          </a:prstGeom>
          <a:ln>
            <a:solidFill>
              <a:schemeClr val="tx1"/>
            </a:solidFill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82BDF7B6-CF08-4690-7DC3-733E91A13649}"/>
              </a:ext>
            </a:extLst>
          </p:cNvPr>
          <p:cNvCxnSpPr>
            <a:cxnSpLocks/>
            <a:stCxn id="46" idx="3"/>
          </p:cNvCxnSpPr>
          <p:nvPr/>
        </p:nvCxnSpPr>
        <p:spPr>
          <a:xfrm>
            <a:off x="9344592" y="3420241"/>
            <a:ext cx="129153" cy="0"/>
          </a:xfrm>
          <a:prstGeom prst="straightConnector1">
            <a:avLst/>
          </a:prstGeom>
          <a:ln>
            <a:solidFill>
              <a:schemeClr val="tx1"/>
            </a:solidFill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662590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23258D79-5FF5-2D49-C888-CE663E2A6C5A}"/>
              </a:ext>
            </a:extLst>
          </p:cNvPr>
          <p:cNvCxnSpPr>
            <a:cxnSpLocks/>
          </p:cNvCxnSpPr>
          <p:nvPr/>
        </p:nvCxnSpPr>
        <p:spPr>
          <a:xfrm>
            <a:off x="4722335" y="2255753"/>
            <a:ext cx="0" cy="147193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C1520C91-1097-BBF8-D3CF-00EBFBE98328}"/>
              </a:ext>
            </a:extLst>
          </p:cNvPr>
          <p:cNvCxnSpPr>
            <a:cxnSpLocks/>
          </p:cNvCxnSpPr>
          <p:nvPr/>
        </p:nvCxnSpPr>
        <p:spPr>
          <a:xfrm>
            <a:off x="4712809" y="1557891"/>
            <a:ext cx="0" cy="36290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131646AB-6817-3D2A-E5CD-B36094F003F1}"/>
              </a:ext>
            </a:extLst>
          </p:cNvPr>
          <p:cNvSpPr/>
          <p:nvPr/>
        </p:nvSpPr>
        <p:spPr>
          <a:xfrm>
            <a:off x="2860196" y="1327391"/>
            <a:ext cx="3724275" cy="470538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>
                <a:solidFill>
                  <a:sysClr val="windowText" lastClr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Babies having their newborn infant physical examination or an echocardiogram (ultrasound scan of the heart)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64587092-B798-880F-0D71-9072C542D8D2}"/>
              </a:ext>
            </a:extLst>
          </p:cNvPr>
          <p:cNvSpPr/>
          <p:nvPr/>
        </p:nvSpPr>
        <p:spPr>
          <a:xfrm>
            <a:off x="2860196" y="1925560"/>
            <a:ext cx="3724275" cy="470538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>
                <a:solidFill>
                  <a:sysClr val="windowText" lastClr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Heart sounds are recorded with a digital stethoscope</a:t>
            </a:r>
          </a:p>
          <a:p>
            <a:pPr algn="ctr"/>
            <a:r>
              <a:rPr lang="en-GB" sz="1150" dirty="0">
                <a:solidFill>
                  <a:sysClr val="windowText" lastClr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Heart rate, breathing rate and oxygen levels are recorded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A0E0332C-9AFF-1C87-3EDD-DAF0DCC48A3B}"/>
              </a:ext>
            </a:extLst>
          </p:cNvPr>
          <p:cNvSpPr/>
          <p:nvPr/>
        </p:nvSpPr>
        <p:spPr>
          <a:xfrm>
            <a:off x="2860197" y="2555795"/>
            <a:ext cx="1724024" cy="104230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>
                <a:solidFill>
                  <a:sysClr val="windowText" lastClr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Recorded heart sounds analysed against images for research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1E1F2F59-20C7-2E0D-6A8A-4890A965318D}"/>
              </a:ext>
            </a:extLst>
          </p:cNvPr>
          <p:cNvSpPr/>
          <p:nvPr/>
        </p:nvSpPr>
        <p:spPr>
          <a:xfrm>
            <a:off x="4851489" y="2559558"/>
            <a:ext cx="1724024" cy="104230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>
                <a:solidFill>
                  <a:sysClr val="windowText" lastClr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Parent/carer asked to fill out a short survey </a:t>
            </a:r>
          </a:p>
          <a:p>
            <a:pPr algn="ctr"/>
            <a:r>
              <a:rPr lang="en-GB" sz="1200" dirty="0">
                <a:solidFill>
                  <a:sysClr val="windowText" lastClr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(6 questions)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6F11C5A9-B990-B5D6-7A38-B9EAAEBB6CAA}"/>
              </a:ext>
            </a:extLst>
          </p:cNvPr>
          <p:cNvSpPr/>
          <p:nvPr/>
        </p:nvSpPr>
        <p:spPr>
          <a:xfrm>
            <a:off x="2851238" y="3757797"/>
            <a:ext cx="3724275" cy="722368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>
                <a:solidFill>
                  <a:sysClr val="windowText" lastClr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Heart sound recordings will not affect what is done after the baby check or heart scan. There will be no change to the baby’s future tests or treatment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6D49876C-48A4-0F95-F755-932691115A50}"/>
              </a:ext>
            </a:extLst>
          </p:cNvPr>
          <p:cNvCxnSpPr>
            <a:cxnSpLocks/>
          </p:cNvCxnSpPr>
          <p:nvPr/>
        </p:nvCxnSpPr>
        <p:spPr>
          <a:xfrm>
            <a:off x="3611150" y="2443711"/>
            <a:ext cx="0" cy="11240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EAF04B8F-3F04-64B2-5C34-1A047F25A9D6}"/>
              </a:ext>
            </a:extLst>
          </p:cNvPr>
          <p:cNvCxnSpPr>
            <a:cxnSpLocks/>
          </p:cNvCxnSpPr>
          <p:nvPr/>
        </p:nvCxnSpPr>
        <p:spPr>
          <a:xfrm>
            <a:off x="5907052" y="2434185"/>
            <a:ext cx="0" cy="13145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FAF6AB1-56F4-86A9-F9A0-091EE50FB379}"/>
              </a:ext>
            </a:extLst>
          </p:cNvPr>
          <p:cNvCxnSpPr>
            <a:cxnSpLocks/>
          </p:cNvCxnSpPr>
          <p:nvPr/>
        </p:nvCxnSpPr>
        <p:spPr>
          <a:xfrm>
            <a:off x="3603940" y="2434185"/>
            <a:ext cx="231457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873567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746EC7-92BE-7BE9-0EAD-AFAC303103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B03788E2-6B55-4BF4-4B6B-1FA9C73CA99D}"/>
              </a:ext>
            </a:extLst>
          </p:cNvPr>
          <p:cNvCxnSpPr>
            <a:cxnSpLocks/>
          </p:cNvCxnSpPr>
          <p:nvPr/>
        </p:nvCxnSpPr>
        <p:spPr>
          <a:xfrm>
            <a:off x="5907052" y="1552898"/>
            <a:ext cx="0" cy="36290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F3C67A9B-5635-5B48-2C6A-D6AA4DFD7FBA}"/>
              </a:ext>
            </a:extLst>
          </p:cNvPr>
          <p:cNvCxnSpPr>
            <a:cxnSpLocks/>
          </p:cNvCxnSpPr>
          <p:nvPr/>
        </p:nvCxnSpPr>
        <p:spPr>
          <a:xfrm>
            <a:off x="4722335" y="2225964"/>
            <a:ext cx="0" cy="109533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409EB504-5E91-B162-6A4B-8AF2BF087B46}"/>
              </a:ext>
            </a:extLst>
          </p:cNvPr>
          <p:cNvCxnSpPr>
            <a:cxnSpLocks/>
          </p:cNvCxnSpPr>
          <p:nvPr/>
        </p:nvCxnSpPr>
        <p:spPr>
          <a:xfrm>
            <a:off x="3611150" y="1552899"/>
            <a:ext cx="0" cy="36290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4F7A7012-73FF-BD45-D328-6C85613970D4}"/>
              </a:ext>
            </a:extLst>
          </p:cNvPr>
          <p:cNvSpPr/>
          <p:nvPr/>
        </p:nvSpPr>
        <p:spPr>
          <a:xfrm>
            <a:off x="2860196" y="1925560"/>
            <a:ext cx="3724275" cy="470538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>
                <a:solidFill>
                  <a:sysClr val="windowText" lastClr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Clinician records heart sounds of babies during NIPE for approximately 10 babies to understand challenges/feasibility of building this assessment into the workflow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23EDF865-AC0D-823F-3BE9-1BDC75F214C6}"/>
              </a:ext>
            </a:extLst>
          </p:cNvPr>
          <p:cNvSpPr/>
          <p:nvPr/>
        </p:nvSpPr>
        <p:spPr>
          <a:xfrm>
            <a:off x="2860197" y="2555796"/>
            <a:ext cx="1724024" cy="717940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>
                <a:solidFill>
                  <a:sysClr val="windowText" lastClr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Recorded heart sounds assessed for quality of recording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539A1D40-3CB1-6E82-234A-56775F7867FF}"/>
              </a:ext>
            </a:extLst>
          </p:cNvPr>
          <p:cNvSpPr/>
          <p:nvPr/>
        </p:nvSpPr>
        <p:spPr>
          <a:xfrm>
            <a:off x="4851489" y="2559559"/>
            <a:ext cx="1724024" cy="717940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>
                <a:solidFill>
                  <a:sysClr val="windowText" lastClr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Clinician completes a survey, and is invited to an interview after recording approximately 10 babies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208E5DE-9235-6852-941A-AAD22E0B53DC}"/>
              </a:ext>
            </a:extLst>
          </p:cNvPr>
          <p:cNvSpPr/>
          <p:nvPr/>
        </p:nvSpPr>
        <p:spPr>
          <a:xfrm>
            <a:off x="2851238" y="3351401"/>
            <a:ext cx="3724275" cy="470537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>
                <a:solidFill>
                  <a:sysClr val="windowText" lastClr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Heart sound recordings will not affect what is done for the baby after the examination, referrals and clinical course remain the same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B0633DBE-F4D1-AD81-67BC-70AA411BBDA1}"/>
              </a:ext>
            </a:extLst>
          </p:cNvPr>
          <p:cNvCxnSpPr>
            <a:cxnSpLocks/>
          </p:cNvCxnSpPr>
          <p:nvPr/>
        </p:nvCxnSpPr>
        <p:spPr>
          <a:xfrm>
            <a:off x="3611150" y="2443711"/>
            <a:ext cx="0" cy="11240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9E7AE2F1-0679-16AC-5A0A-7A527DFA1E8A}"/>
              </a:ext>
            </a:extLst>
          </p:cNvPr>
          <p:cNvCxnSpPr>
            <a:cxnSpLocks/>
          </p:cNvCxnSpPr>
          <p:nvPr/>
        </p:nvCxnSpPr>
        <p:spPr>
          <a:xfrm>
            <a:off x="5907052" y="2434185"/>
            <a:ext cx="0" cy="13145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E3ED371-CB90-B9AD-6EE4-13E52E443C8D}"/>
              </a:ext>
            </a:extLst>
          </p:cNvPr>
          <p:cNvCxnSpPr>
            <a:cxnSpLocks/>
          </p:cNvCxnSpPr>
          <p:nvPr/>
        </p:nvCxnSpPr>
        <p:spPr>
          <a:xfrm>
            <a:off x="3603940" y="2434185"/>
            <a:ext cx="231457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06705FEB-8D05-61E4-0C9D-9BFF04B7CBBC}"/>
              </a:ext>
            </a:extLst>
          </p:cNvPr>
          <p:cNvCxnSpPr>
            <a:cxnSpLocks/>
          </p:cNvCxnSpPr>
          <p:nvPr/>
        </p:nvCxnSpPr>
        <p:spPr>
          <a:xfrm>
            <a:off x="5912810" y="1074263"/>
            <a:ext cx="0" cy="36290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10F20209-F148-FA3E-B4D9-2DCB795E5BED}"/>
              </a:ext>
            </a:extLst>
          </p:cNvPr>
          <p:cNvCxnSpPr>
            <a:cxnSpLocks/>
          </p:cNvCxnSpPr>
          <p:nvPr/>
        </p:nvCxnSpPr>
        <p:spPr>
          <a:xfrm>
            <a:off x="3616908" y="1074264"/>
            <a:ext cx="0" cy="36290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D1ED327A-5964-0D58-B4E4-5F5E2C97A174}"/>
              </a:ext>
            </a:extLst>
          </p:cNvPr>
          <p:cNvSpPr/>
          <p:nvPr/>
        </p:nvSpPr>
        <p:spPr>
          <a:xfrm>
            <a:off x="2865953" y="1446527"/>
            <a:ext cx="3724276" cy="360102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>
                <a:solidFill>
                  <a:sysClr val="windowText" lastClr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Member of study team shows clinician participant how to take the recordings and use the Eko+ app during first examination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C9A81881-AB9E-BAEB-3EA9-F87FC3C8C363}"/>
              </a:ext>
            </a:extLst>
          </p:cNvPr>
          <p:cNvSpPr/>
          <p:nvPr/>
        </p:nvSpPr>
        <p:spPr>
          <a:xfrm>
            <a:off x="2860197" y="498760"/>
            <a:ext cx="1724024" cy="832033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>
                <a:solidFill>
                  <a:sysClr val="windowText" lastClr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Clinician agrees to take part in study to record heart sounds during newborn infant physical examination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404DDD63-4ACD-E598-C81F-910B65570FAF}"/>
              </a:ext>
            </a:extLst>
          </p:cNvPr>
          <p:cNvSpPr/>
          <p:nvPr/>
        </p:nvSpPr>
        <p:spPr>
          <a:xfrm>
            <a:off x="4860447" y="498760"/>
            <a:ext cx="1724024" cy="832033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00" dirty="0">
                <a:solidFill>
                  <a:sysClr val="windowText" lastClr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Member of study team gains consent from mothers/carers on day of newborn infant physical examination</a:t>
            </a:r>
          </a:p>
        </p:txBody>
      </p:sp>
    </p:spTree>
    <p:extLst>
      <p:ext uri="{BB962C8B-B14F-4D97-AF65-F5344CB8AC3E}">
        <p14:creationId xmlns:p14="http://schemas.microsoft.com/office/powerpoint/2010/main" val="16826505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ECE100-8EC2-F41D-33C8-88A5471273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8DF3F39-BAFD-2D7A-1F83-852D1684488D}"/>
              </a:ext>
            </a:extLst>
          </p:cNvPr>
          <p:cNvSpPr/>
          <p:nvPr/>
        </p:nvSpPr>
        <p:spPr>
          <a:xfrm>
            <a:off x="764246" y="902589"/>
            <a:ext cx="2414016" cy="122529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u="sng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&gt;</a:t>
            </a:r>
            <a:r>
              <a:rPr lang="en-GB" sz="160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100 Babies undergoing NIPE in first 72 hours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F138FF1D-1624-ACB4-934C-802F9D18476F}"/>
              </a:ext>
            </a:extLst>
          </p:cNvPr>
          <p:cNvCxnSpPr>
            <a:cxnSpLocks/>
            <a:stCxn id="2" idx="3"/>
            <a:endCxn id="5" idx="1"/>
          </p:cNvCxnSpPr>
          <p:nvPr/>
        </p:nvCxnSpPr>
        <p:spPr>
          <a:xfrm>
            <a:off x="3178262" y="1515237"/>
            <a:ext cx="27817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>
            <a:extLst>
              <a:ext uri="{FF2B5EF4-FFF2-40B4-BE49-F238E27FC236}">
                <a16:creationId xmlns:a16="http://schemas.microsoft.com/office/drawing/2014/main" id="{948CE489-245E-D366-E547-B4622BE9436C}"/>
              </a:ext>
            </a:extLst>
          </p:cNvPr>
          <p:cNvSpPr/>
          <p:nvPr/>
        </p:nvSpPr>
        <p:spPr>
          <a:xfrm>
            <a:off x="3456432" y="902589"/>
            <a:ext cx="2414016" cy="122529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NIPE </a:t>
            </a:r>
            <a:r>
              <a:rPr lang="en-GB" sz="1600" dirty="0" err="1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practitoner</a:t>
            </a:r>
            <a:r>
              <a:rPr lang="en-GB" sz="160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records heart sounds of at least 5 babies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BD34FE12-38FD-4161-451F-53F9CFCB005E}"/>
              </a:ext>
            </a:extLst>
          </p:cNvPr>
          <p:cNvCxnSpPr>
            <a:cxnSpLocks/>
          </p:cNvCxnSpPr>
          <p:nvPr/>
        </p:nvCxnSpPr>
        <p:spPr>
          <a:xfrm flipV="1">
            <a:off x="5868895" y="1515237"/>
            <a:ext cx="332290" cy="914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E85BC2B8-D79D-32D5-7C12-E7E89270A395}"/>
              </a:ext>
            </a:extLst>
          </p:cNvPr>
          <p:cNvSpPr/>
          <p:nvPr/>
        </p:nvSpPr>
        <p:spPr>
          <a:xfrm>
            <a:off x="6227064" y="911733"/>
            <a:ext cx="2414016" cy="122529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Qualitative surveys/interviews of clinicians and carers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019D979-F5FC-C785-CC53-85D2A1D9D470}"/>
              </a:ext>
            </a:extLst>
          </p:cNvPr>
          <p:cNvSpPr/>
          <p:nvPr/>
        </p:nvSpPr>
        <p:spPr>
          <a:xfrm>
            <a:off x="764246" y="3536062"/>
            <a:ext cx="2414016" cy="122529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u="sng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&gt;</a:t>
            </a:r>
            <a:r>
              <a:rPr lang="en-GB" sz="160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100 Babies &lt; 3m old undergoing echocardiogram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C6557203-1EEA-536A-21A7-1B2CDCFAE190}"/>
              </a:ext>
            </a:extLst>
          </p:cNvPr>
          <p:cNvCxnSpPr>
            <a:cxnSpLocks/>
          </p:cNvCxnSpPr>
          <p:nvPr/>
        </p:nvCxnSpPr>
        <p:spPr>
          <a:xfrm flipV="1">
            <a:off x="3178262" y="4048125"/>
            <a:ext cx="278170" cy="2286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116869BD-46E2-5B24-D540-835060272625}"/>
              </a:ext>
            </a:extLst>
          </p:cNvPr>
          <p:cNvSpPr/>
          <p:nvPr/>
        </p:nvSpPr>
        <p:spPr>
          <a:xfrm>
            <a:off x="3456432" y="2457069"/>
            <a:ext cx="2414016" cy="181965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u="sng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&gt;</a:t>
            </a:r>
            <a:r>
              <a:rPr lang="en-GB" sz="160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50 babies with previous structural findings on echocardiogram</a:t>
            </a:r>
          </a:p>
          <a:p>
            <a:pPr algn="ctr"/>
            <a:r>
              <a:rPr lang="en-GB" sz="160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of PDA / VSD / valve stenosis undergoing repeat echocardiogram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1CCCCAE-B31A-E5C1-BC7A-57CA71C2E4B5}"/>
              </a:ext>
            </a:extLst>
          </p:cNvPr>
          <p:cNvSpPr/>
          <p:nvPr/>
        </p:nvSpPr>
        <p:spPr>
          <a:xfrm>
            <a:off x="6227064" y="2457068"/>
            <a:ext cx="2414016" cy="357072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Heart sounds recorded within 6 hours of echocardiogram alongside heart rate, respiratory rate, oxygen saturations from right arm and foot</a:t>
            </a:r>
          </a:p>
          <a:p>
            <a:pPr algn="ctr"/>
            <a:endParaRPr lang="en-GB" sz="1600" dirty="0">
              <a:solidFill>
                <a:sysClr val="windowText" lastClr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GB" sz="160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Qualitative survey of carers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A50068A3-0A32-E818-879E-8A009B2142D2}"/>
              </a:ext>
            </a:extLst>
          </p:cNvPr>
          <p:cNvCxnSpPr>
            <a:cxnSpLocks/>
          </p:cNvCxnSpPr>
          <p:nvPr/>
        </p:nvCxnSpPr>
        <p:spPr>
          <a:xfrm>
            <a:off x="5868895" y="3366897"/>
            <a:ext cx="33229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948FA85F-AC77-A4CE-2ADA-8A359319A8C2}"/>
              </a:ext>
            </a:extLst>
          </p:cNvPr>
          <p:cNvCxnSpPr>
            <a:cxnSpLocks/>
          </p:cNvCxnSpPr>
          <p:nvPr/>
        </p:nvCxnSpPr>
        <p:spPr>
          <a:xfrm>
            <a:off x="3178262" y="4276725"/>
            <a:ext cx="278170" cy="23317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E23DB719-FC15-4FC3-DCF4-E0C118803498}"/>
              </a:ext>
            </a:extLst>
          </p:cNvPr>
          <p:cNvCxnSpPr>
            <a:cxnSpLocks/>
          </p:cNvCxnSpPr>
          <p:nvPr/>
        </p:nvCxnSpPr>
        <p:spPr>
          <a:xfrm>
            <a:off x="5868895" y="5268848"/>
            <a:ext cx="33229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B45BD83C-F4C7-CC1E-BBA2-27A96D48B596}"/>
              </a:ext>
            </a:extLst>
          </p:cNvPr>
          <p:cNvSpPr/>
          <p:nvPr/>
        </p:nvSpPr>
        <p:spPr>
          <a:xfrm>
            <a:off x="8988937" y="2436087"/>
            <a:ext cx="3131906" cy="161203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Assessment of accuracy of heart sound recordings used to predict echocardiogram findings via machine learning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42497EA-C0D5-E55E-AC30-FD6C713921A0}"/>
              </a:ext>
            </a:extLst>
          </p:cNvPr>
          <p:cNvSpPr/>
          <p:nvPr/>
        </p:nvSpPr>
        <p:spPr>
          <a:xfrm>
            <a:off x="8997696" y="911733"/>
            <a:ext cx="3125752" cy="122529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Recordings assessed for quality by interpretation with automated heart rate detection algorithm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11D59305-C9FB-5B9B-0B0A-40A0C48BAB49}"/>
              </a:ext>
            </a:extLst>
          </p:cNvPr>
          <p:cNvCxnSpPr>
            <a:cxnSpLocks/>
          </p:cNvCxnSpPr>
          <p:nvPr/>
        </p:nvCxnSpPr>
        <p:spPr>
          <a:xfrm flipV="1">
            <a:off x="8645623" y="1521333"/>
            <a:ext cx="332290" cy="914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>
            <a:extLst>
              <a:ext uri="{FF2B5EF4-FFF2-40B4-BE49-F238E27FC236}">
                <a16:creationId xmlns:a16="http://schemas.microsoft.com/office/drawing/2014/main" id="{56535636-D120-1322-8D1F-AD813AB21F55}"/>
              </a:ext>
            </a:extLst>
          </p:cNvPr>
          <p:cNvSpPr/>
          <p:nvPr/>
        </p:nvSpPr>
        <p:spPr>
          <a:xfrm>
            <a:off x="8997695" y="4374037"/>
            <a:ext cx="3123148" cy="163591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Basic exploratory analysis targeting </a:t>
            </a:r>
            <a:r>
              <a:rPr lang="en-GB" sz="1600" u="sng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&gt;</a:t>
            </a:r>
            <a:r>
              <a:rPr lang="en-GB" sz="160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 babies to assess whether repeated phonocardiograms on different days improve prediction of congenital heart disease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26868EA8-B001-7375-CBCD-63CDFCCBF8E0}"/>
              </a:ext>
            </a:extLst>
          </p:cNvPr>
          <p:cNvCxnSpPr>
            <a:cxnSpLocks/>
            <a:endCxn id="25" idx="2"/>
          </p:cNvCxnSpPr>
          <p:nvPr/>
        </p:nvCxnSpPr>
        <p:spPr>
          <a:xfrm flipV="1">
            <a:off x="10546382" y="6009952"/>
            <a:ext cx="12887" cy="26397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26">
            <a:extLst>
              <a:ext uri="{FF2B5EF4-FFF2-40B4-BE49-F238E27FC236}">
                <a16:creationId xmlns:a16="http://schemas.microsoft.com/office/drawing/2014/main" id="{7FEC7660-13FF-CEB7-15B9-4E1B8FA315AC}"/>
              </a:ext>
            </a:extLst>
          </p:cNvPr>
          <p:cNvSpPr/>
          <p:nvPr/>
        </p:nvSpPr>
        <p:spPr>
          <a:xfrm rot="16200000">
            <a:off x="-313493" y="3922575"/>
            <a:ext cx="1225297" cy="46217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Arm 2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0039EFF-2C70-3C7C-8061-1E2962E9FF44}"/>
              </a:ext>
            </a:extLst>
          </p:cNvPr>
          <p:cNvSpPr/>
          <p:nvPr/>
        </p:nvSpPr>
        <p:spPr>
          <a:xfrm rot="16200000">
            <a:off x="-305872" y="1284152"/>
            <a:ext cx="1225294" cy="46217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Arm 1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3FC98A59-D2EA-324A-7B98-304DFDD36A5C}"/>
              </a:ext>
            </a:extLst>
          </p:cNvPr>
          <p:cNvCxnSpPr>
            <a:cxnSpLocks/>
            <a:stCxn id="28" idx="2"/>
            <a:endCxn id="2" idx="1"/>
          </p:cNvCxnSpPr>
          <p:nvPr/>
        </p:nvCxnSpPr>
        <p:spPr>
          <a:xfrm flipV="1">
            <a:off x="537862" y="1515237"/>
            <a:ext cx="226384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906B5F8E-3914-5D0A-2DBA-9685C1FF4D42}"/>
              </a:ext>
            </a:extLst>
          </p:cNvPr>
          <p:cNvCxnSpPr>
            <a:cxnSpLocks/>
          </p:cNvCxnSpPr>
          <p:nvPr/>
        </p:nvCxnSpPr>
        <p:spPr>
          <a:xfrm flipV="1">
            <a:off x="524923" y="4175380"/>
            <a:ext cx="226384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6347E814-05B8-579F-8EC5-088A08ABFF4C}"/>
              </a:ext>
            </a:extLst>
          </p:cNvPr>
          <p:cNvCxnSpPr>
            <a:cxnSpLocks/>
          </p:cNvCxnSpPr>
          <p:nvPr/>
        </p:nvCxnSpPr>
        <p:spPr>
          <a:xfrm flipV="1">
            <a:off x="8648389" y="3350122"/>
            <a:ext cx="330736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ectangle 36">
            <a:extLst>
              <a:ext uri="{FF2B5EF4-FFF2-40B4-BE49-F238E27FC236}">
                <a16:creationId xmlns:a16="http://schemas.microsoft.com/office/drawing/2014/main" id="{FEEE8A36-A891-C7C5-1F51-C44A0E4D571B}"/>
              </a:ext>
            </a:extLst>
          </p:cNvPr>
          <p:cNvSpPr/>
          <p:nvPr/>
        </p:nvSpPr>
        <p:spPr>
          <a:xfrm>
            <a:off x="3454879" y="143639"/>
            <a:ext cx="2414016" cy="61264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Clinical pathway for baby remains the same</a:t>
            </a: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02AA8929-4589-EC47-638D-890DB5B666AB}"/>
              </a:ext>
            </a:extLst>
          </p:cNvPr>
          <p:cNvCxnSpPr>
            <a:cxnSpLocks/>
          </p:cNvCxnSpPr>
          <p:nvPr/>
        </p:nvCxnSpPr>
        <p:spPr>
          <a:xfrm flipV="1">
            <a:off x="5868895" y="431293"/>
            <a:ext cx="332290" cy="914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ectangle 38">
            <a:extLst>
              <a:ext uri="{FF2B5EF4-FFF2-40B4-BE49-F238E27FC236}">
                <a16:creationId xmlns:a16="http://schemas.microsoft.com/office/drawing/2014/main" id="{25D1251D-94E3-16B3-4367-2CBF2D86CE80}"/>
              </a:ext>
            </a:extLst>
          </p:cNvPr>
          <p:cNvSpPr/>
          <p:nvPr/>
        </p:nvSpPr>
        <p:spPr>
          <a:xfrm>
            <a:off x="6227063" y="150295"/>
            <a:ext cx="5894832" cy="61264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Baby eligible for arm 2 if referred for echocardiogram due to clinician auscultation of murmur</a:t>
            </a:r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CC8747B4-6E0C-D618-79C0-DDC17389E4AD}"/>
              </a:ext>
            </a:extLst>
          </p:cNvPr>
          <p:cNvCxnSpPr>
            <a:cxnSpLocks/>
            <a:stCxn id="5" idx="0"/>
            <a:endCxn id="37" idx="2"/>
          </p:cNvCxnSpPr>
          <p:nvPr/>
        </p:nvCxnSpPr>
        <p:spPr>
          <a:xfrm flipH="1" flipV="1">
            <a:off x="4661887" y="756287"/>
            <a:ext cx="1553" cy="14630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ectangle 42">
            <a:extLst>
              <a:ext uri="{FF2B5EF4-FFF2-40B4-BE49-F238E27FC236}">
                <a16:creationId xmlns:a16="http://schemas.microsoft.com/office/drawing/2014/main" id="{AB14942B-6763-ED01-D6C9-9A4339517006}"/>
              </a:ext>
            </a:extLst>
          </p:cNvPr>
          <p:cNvSpPr/>
          <p:nvPr/>
        </p:nvSpPr>
        <p:spPr>
          <a:xfrm>
            <a:off x="3454879" y="6218126"/>
            <a:ext cx="2414016" cy="61264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Clinical pathway for baby remains the same</a:t>
            </a:r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8E5F0206-B936-F699-2D7B-60D28FAF36D5}"/>
              </a:ext>
            </a:extLst>
          </p:cNvPr>
          <p:cNvCxnSpPr>
            <a:cxnSpLocks/>
          </p:cNvCxnSpPr>
          <p:nvPr/>
        </p:nvCxnSpPr>
        <p:spPr>
          <a:xfrm>
            <a:off x="4652379" y="5942952"/>
            <a:ext cx="0" cy="24613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9E2CD55B-1FB1-73E9-79E5-880C9D7B4527}"/>
              </a:ext>
            </a:extLst>
          </p:cNvPr>
          <p:cNvCxnSpPr>
            <a:cxnSpLocks/>
          </p:cNvCxnSpPr>
          <p:nvPr/>
        </p:nvCxnSpPr>
        <p:spPr>
          <a:xfrm flipV="1">
            <a:off x="5868895" y="6499124"/>
            <a:ext cx="332290" cy="914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Rectangle 50">
            <a:extLst>
              <a:ext uri="{FF2B5EF4-FFF2-40B4-BE49-F238E27FC236}">
                <a16:creationId xmlns:a16="http://schemas.microsoft.com/office/drawing/2014/main" id="{F12CD593-5732-FD10-0779-CCF732773CBA}"/>
              </a:ext>
            </a:extLst>
          </p:cNvPr>
          <p:cNvSpPr/>
          <p:nvPr/>
        </p:nvSpPr>
        <p:spPr>
          <a:xfrm>
            <a:off x="6227064" y="6218126"/>
            <a:ext cx="5885020" cy="61264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Baby eligible for repeat phonocardiogram if standard clinical pathway involves repeat echocardiogram &lt;3 months of age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B8E90C7-85CB-CD38-1999-09C9A5440FEB}"/>
              </a:ext>
            </a:extLst>
          </p:cNvPr>
          <p:cNvSpPr/>
          <p:nvPr/>
        </p:nvSpPr>
        <p:spPr>
          <a:xfrm>
            <a:off x="3456432" y="4509896"/>
            <a:ext cx="2414016" cy="151790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u="sng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&gt;</a:t>
            </a:r>
            <a:r>
              <a:rPr lang="en-GB" sz="160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50 babies </a:t>
            </a:r>
            <a:r>
              <a:rPr lang="en-GB" sz="1600" u="sng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&gt;</a:t>
            </a:r>
            <a:r>
              <a:rPr lang="en-GB" sz="160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37 weeks gestation referred for echocardiogram due to new murmur</a:t>
            </a:r>
          </a:p>
        </p:txBody>
      </p:sp>
    </p:spTree>
    <p:extLst>
      <p:ext uri="{BB962C8B-B14F-4D97-AF65-F5344CB8AC3E}">
        <p14:creationId xmlns:p14="http://schemas.microsoft.com/office/powerpoint/2010/main" val="3926697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1FBE43-F347-7C3F-1B1E-0E237F6C66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560FD66-7165-83E9-A166-F0F50CCB1F33}"/>
              </a:ext>
            </a:extLst>
          </p:cNvPr>
          <p:cNvSpPr/>
          <p:nvPr/>
        </p:nvSpPr>
        <p:spPr>
          <a:xfrm>
            <a:off x="764246" y="902589"/>
            <a:ext cx="2414016" cy="122529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u="sng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&gt;</a:t>
            </a:r>
            <a:r>
              <a:rPr lang="en-GB" sz="160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100 Babies undergoing NIPE in first 72 hours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0BEE6A64-346E-A034-3563-C7D4F72015ED}"/>
              </a:ext>
            </a:extLst>
          </p:cNvPr>
          <p:cNvCxnSpPr>
            <a:cxnSpLocks/>
            <a:stCxn id="2" idx="3"/>
            <a:endCxn id="5" idx="1"/>
          </p:cNvCxnSpPr>
          <p:nvPr/>
        </p:nvCxnSpPr>
        <p:spPr>
          <a:xfrm>
            <a:off x="3178262" y="1515237"/>
            <a:ext cx="27817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>
            <a:extLst>
              <a:ext uri="{FF2B5EF4-FFF2-40B4-BE49-F238E27FC236}">
                <a16:creationId xmlns:a16="http://schemas.microsoft.com/office/drawing/2014/main" id="{8E875CE1-B4C4-2423-5D04-5F2755442566}"/>
              </a:ext>
            </a:extLst>
          </p:cNvPr>
          <p:cNvSpPr/>
          <p:nvPr/>
        </p:nvSpPr>
        <p:spPr>
          <a:xfrm>
            <a:off x="3456432" y="902589"/>
            <a:ext cx="2414016" cy="122529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NIPE </a:t>
            </a:r>
            <a:r>
              <a:rPr lang="en-GB" sz="1600" dirty="0" err="1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practitoner</a:t>
            </a:r>
            <a:r>
              <a:rPr lang="en-GB" sz="160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records heart sounds of at least 5 babies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390AA0F9-8E93-0118-1D47-0F6EE8F0D64F}"/>
              </a:ext>
            </a:extLst>
          </p:cNvPr>
          <p:cNvCxnSpPr>
            <a:cxnSpLocks/>
          </p:cNvCxnSpPr>
          <p:nvPr/>
        </p:nvCxnSpPr>
        <p:spPr>
          <a:xfrm flipV="1">
            <a:off x="5868895" y="1515237"/>
            <a:ext cx="332290" cy="914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046E884F-F9FB-5028-462B-AD0AED345E58}"/>
              </a:ext>
            </a:extLst>
          </p:cNvPr>
          <p:cNvSpPr/>
          <p:nvPr/>
        </p:nvSpPr>
        <p:spPr>
          <a:xfrm>
            <a:off x="6227064" y="911733"/>
            <a:ext cx="2414016" cy="122529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Qualitative surveys/interviews of clinicians and carers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093F507-A829-2B56-FB73-3629441B23C8}"/>
              </a:ext>
            </a:extLst>
          </p:cNvPr>
          <p:cNvSpPr/>
          <p:nvPr/>
        </p:nvSpPr>
        <p:spPr>
          <a:xfrm>
            <a:off x="764246" y="3536062"/>
            <a:ext cx="2414016" cy="122529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u="sng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&gt;</a:t>
            </a:r>
            <a:r>
              <a:rPr lang="en-GB" sz="160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100 Babies &lt; 3m old undergoing echocardiogram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E04BA59D-6386-DDDA-05D0-24E5A0317405}"/>
              </a:ext>
            </a:extLst>
          </p:cNvPr>
          <p:cNvCxnSpPr>
            <a:cxnSpLocks/>
          </p:cNvCxnSpPr>
          <p:nvPr/>
        </p:nvCxnSpPr>
        <p:spPr>
          <a:xfrm flipV="1">
            <a:off x="3178262" y="4048125"/>
            <a:ext cx="278170" cy="2286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0BFF2A1D-FDC6-DE23-769A-17CEE906249C}"/>
              </a:ext>
            </a:extLst>
          </p:cNvPr>
          <p:cNvSpPr/>
          <p:nvPr/>
        </p:nvSpPr>
        <p:spPr>
          <a:xfrm>
            <a:off x="3456432" y="2457069"/>
            <a:ext cx="2414016" cy="181965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u="sng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&gt;</a:t>
            </a:r>
            <a:r>
              <a:rPr lang="en-GB" sz="160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50 babies with previous structural findings on echocardiogram</a:t>
            </a:r>
          </a:p>
          <a:p>
            <a:pPr algn="ctr"/>
            <a:r>
              <a:rPr lang="en-GB" sz="160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of PDA / VSD / valve stenosis undergoing repeat echocardiogram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5804324-ADF9-D605-4923-281EFE3FFEFC}"/>
              </a:ext>
            </a:extLst>
          </p:cNvPr>
          <p:cNvSpPr/>
          <p:nvPr/>
        </p:nvSpPr>
        <p:spPr>
          <a:xfrm>
            <a:off x="6227064" y="2457068"/>
            <a:ext cx="2414016" cy="357072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Heart sounds recorded within 6 hours of echocardiogram alongside heart rate, respiratory rate, oxygen saturations from right arm and foot</a:t>
            </a:r>
          </a:p>
          <a:p>
            <a:pPr algn="ctr"/>
            <a:endParaRPr lang="en-GB" sz="1600" dirty="0">
              <a:solidFill>
                <a:sysClr val="windowText" lastClr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GB" sz="160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Qualitative survey of carers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BDA49F78-197B-7941-E0AA-3E4F256FE012}"/>
              </a:ext>
            </a:extLst>
          </p:cNvPr>
          <p:cNvCxnSpPr>
            <a:cxnSpLocks/>
          </p:cNvCxnSpPr>
          <p:nvPr/>
        </p:nvCxnSpPr>
        <p:spPr>
          <a:xfrm>
            <a:off x="5868895" y="3366897"/>
            <a:ext cx="33229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93258BEE-52A9-009A-EBA4-E7A6816B6FB3}"/>
              </a:ext>
            </a:extLst>
          </p:cNvPr>
          <p:cNvCxnSpPr>
            <a:cxnSpLocks/>
          </p:cNvCxnSpPr>
          <p:nvPr/>
        </p:nvCxnSpPr>
        <p:spPr>
          <a:xfrm>
            <a:off x="3178262" y="4276725"/>
            <a:ext cx="278170" cy="23317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2F5EB761-ECBB-A342-E94B-7A1ABA4CBD10}"/>
              </a:ext>
            </a:extLst>
          </p:cNvPr>
          <p:cNvCxnSpPr>
            <a:cxnSpLocks/>
          </p:cNvCxnSpPr>
          <p:nvPr/>
        </p:nvCxnSpPr>
        <p:spPr>
          <a:xfrm>
            <a:off x="5868895" y="5268848"/>
            <a:ext cx="33229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D8D0106C-5DAD-C3D4-0C17-003E264C9990}"/>
              </a:ext>
            </a:extLst>
          </p:cNvPr>
          <p:cNvSpPr/>
          <p:nvPr/>
        </p:nvSpPr>
        <p:spPr>
          <a:xfrm>
            <a:off x="10757139" y="2436087"/>
            <a:ext cx="1363703" cy="161203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Assessment of accuracy of heart sound recordings used to predict echocardiogram findings via machine learning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19F1A15-CCD2-F0A8-7033-4549027D2367}"/>
              </a:ext>
            </a:extLst>
          </p:cNvPr>
          <p:cNvSpPr/>
          <p:nvPr/>
        </p:nvSpPr>
        <p:spPr>
          <a:xfrm>
            <a:off x="8997696" y="911733"/>
            <a:ext cx="3125752" cy="122529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Recordings assessed for quality by interpretation with automated heart rate detection algorithm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0E4CC821-856C-2F97-B52E-E1DB63677715}"/>
              </a:ext>
            </a:extLst>
          </p:cNvPr>
          <p:cNvCxnSpPr>
            <a:cxnSpLocks/>
          </p:cNvCxnSpPr>
          <p:nvPr/>
        </p:nvCxnSpPr>
        <p:spPr>
          <a:xfrm flipV="1">
            <a:off x="8645623" y="1521333"/>
            <a:ext cx="332290" cy="914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>
            <a:extLst>
              <a:ext uri="{FF2B5EF4-FFF2-40B4-BE49-F238E27FC236}">
                <a16:creationId xmlns:a16="http://schemas.microsoft.com/office/drawing/2014/main" id="{D04C7619-AC8F-0830-4088-64D9D18A3FBE}"/>
              </a:ext>
            </a:extLst>
          </p:cNvPr>
          <p:cNvSpPr/>
          <p:nvPr/>
        </p:nvSpPr>
        <p:spPr>
          <a:xfrm>
            <a:off x="8997695" y="4374037"/>
            <a:ext cx="3123148" cy="163591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Basic exploratory analysis targeting </a:t>
            </a:r>
            <a:r>
              <a:rPr lang="en-GB" sz="1600" u="sng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&gt;</a:t>
            </a:r>
            <a:r>
              <a:rPr lang="en-GB" sz="160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 babies to assess whether repeated phonocardiograms on different days improve prediction of congenital heart disease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F2F1A71E-5458-6F35-1805-71BACBE469AF}"/>
              </a:ext>
            </a:extLst>
          </p:cNvPr>
          <p:cNvCxnSpPr>
            <a:cxnSpLocks/>
            <a:endCxn id="25" idx="2"/>
          </p:cNvCxnSpPr>
          <p:nvPr/>
        </p:nvCxnSpPr>
        <p:spPr>
          <a:xfrm flipV="1">
            <a:off x="10546382" y="6009952"/>
            <a:ext cx="12887" cy="26397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26">
            <a:extLst>
              <a:ext uri="{FF2B5EF4-FFF2-40B4-BE49-F238E27FC236}">
                <a16:creationId xmlns:a16="http://schemas.microsoft.com/office/drawing/2014/main" id="{2EE99BFF-7496-3163-A38B-3B3D62283ABD}"/>
              </a:ext>
            </a:extLst>
          </p:cNvPr>
          <p:cNvSpPr/>
          <p:nvPr/>
        </p:nvSpPr>
        <p:spPr>
          <a:xfrm rot="16200000">
            <a:off x="-313493" y="3922575"/>
            <a:ext cx="1225297" cy="46217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Arm 2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DF3656B-9E60-E68D-2E60-222AE9BA7394}"/>
              </a:ext>
            </a:extLst>
          </p:cNvPr>
          <p:cNvSpPr/>
          <p:nvPr/>
        </p:nvSpPr>
        <p:spPr>
          <a:xfrm rot="16200000">
            <a:off x="-305872" y="1284152"/>
            <a:ext cx="1225294" cy="46217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Arm 1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099248C8-A9FA-9B61-D889-6640B968831A}"/>
              </a:ext>
            </a:extLst>
          </p:cNvPr>
          <p:cNvCxnSpPr>
            <a:cxnSpLocks/>
            <a:stCxn id="28" idx="2"/>
            <a:endCxn id="2" idx="1"/>
          </p:cNvCxnSpPr>
          <p:nvPr/>
        </p:nvCxnSpPr>
        <p:spPr>
          <a:xfrm flipV="1">
            <a:off x="537862" y="1515237"/>
            <a:ext cx="226384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493CA4ED-E748-2905-6737-F2E90177718C}"/>
              </a:ext>
            </a:extLst>
          </p:cNvPr>
          <p:cNvCxnSpPr>
            <a:cxnSpLocks/>
          </p:cNvCxnSpPr>
          <p:nvPr/>
        </p:nvCxnSpPr>
        <p:spPr>
          <a:xfrm flipV="1">
            <a:off x="524923" y="4175380"/>
            <a:ext cx="226384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C263E0B1-0ACC-0BDA-8ED1-1320CCF396BB}"/>
              </a:ext>
            </a:extLst>
          </p:cNvPr>
          <p:cNvCxnSpPr>
            <a:cxnSpLocks/>
          </p:cNvCxnSpPr>
          <p:nvPr/>
        </p:nvCxnSpPr>
        <p:spPr>
          <a:xfrm flipV="1">
            <a:off x="8648389" y="3350122"/>
            <a:ext cx="330736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ectangle 36">
            <a:extLst>
              <a:ext uri="{FF2B5EF4-FFF2-40B4-BE49-F238E27FC236}">
                <a16:creationId xmlns:a16="http://schemas.microsoft.com/office/drawing/2014/main" id="{1562DE6B-58CD-E78C-1537-8A05314C3548}"/>
              </a:ext>
            </a:extLst>
          </p:cNvPr>
          <p:cNvSpPr/>
          <p:nvPr/>
        </p:nvSpPr>
        <p:spPr>
          <a:xfrm>
            <a:off x="3454879" y="143639"/>
            <a:ext cx="2414016" cy="61264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Clinical pathway for baby remains the same</a:t>
            </a: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D421B172-E09E-9A46-B49C-3D7CD47BCD6E}"/>
              </a:ext>
            </a:extLst>
          </p:cNvPr>
          <p:cNvCxnSpPr>
            <a:cxnSpLocks/>
          </p:cNvCxnSpPr>
          <p:nvPr/>
        </p:nvCxnSpPr>
        <p:spPr>
          <a:xfrm flipV="1">
            <a:off x="5868895" y="431293"/>
            <a:ext cx="332290" cy="914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ectangle 38">
            <a:extLst>
              <a:ext uri="{FF2B5EF4-FFF2-40B4-BE49-F238E27FC236}">
                <a16:creationId xmlns:a16="http://schemas.microsoft.com/office/drawing/2014/main" id="{BDB5E306-653C-5716-1C55-1A26A897E4AC}"/>
              </a:ext>
            </a:extLst>
          </p:cNvPr>
          <p:cNvSpPr/>
          <p:nvPr/>
        </p:nvSpPr>
        <p:spPr>
          <a:xfrm>
            <a:off x="6227063" y="150295"/>
            <a:ext cx="5894832" cy="61264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Baby eligible for arm 2 if referred for echocardiogram due to clinician auscultation of murmur</a:t>
            </a:r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0FC3C950-703F-1174-95BC-2AC00F88B324}"/>
              </a:ext>
            </a:extLst>
          </p:cNvPr>
          <p:cNvCxnSpPr>
            <a:cxnSpLocks/>
            <a:stCxn id="5" idx="0"/>
            <a:endCxn id="37" idx="2"/>
          </p:cNvCxnSpPr>
          <p:nvPr/>
        </p:nvCxnSpPr>
        <p:spPr>
          <a:xfrm flipH="1" flipV="1">
            <a:off x="4661887" y="756287"/>
            <a:ext cx="1553" cy="14630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ectangle 42">
            <a:extLst>
              <a:ext uri="{FF2B5EF4-FFF2-40B4-BE49-F238E27FC236}">
                <a16:creationId xmlns:a16="http://schemas.microsoft.com/office/drawing/2014/main" id="{874F5FE1-97DC-2727-C159-A4F04C146696}"/>
              </a:ext>
            </a:extLst>
          </p:cNvPr>
          <p:cNvSpPr/>
          <p:nvPr/>
        </p:nvSpPr>
        <p:spPr>
          <a:xfrm>
            <a:off x="3454879" y="6218126"/>
            <a:ext cx="2414016" cy="61264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Clinical pathway for baby remains the same</a:t>
            </a:r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601F7FFE-2A01-447B-8765-E3A0B6F76627}"/>
              </a:ext>
            </a:extLst>
          </p:cNvPr>
          <p:cNvCxnSpPr>
            <a:cxnSpLocks/>
          </p:cNvCxnSpPr>
          <p:nvPr/>
        </p:nvCxnSpPr>
        <p:spPr>
          <a:xfrm>
            <a:off x="4652379" y="5942952"/>
            <a:ext cx="0" cy="24613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C3DA7562-321C-2B61-E432-AF7B41D59499}"/>
              </a:ext>
            </a:extLst>
          </p:cNvPr>
          <p:cNvCxnSpPr>
            <a:cxnSpLocks/>
          </p:cNvCxnSpPr>
          <p:nvPr/>
        </p:nvCxnSpPr>
        <p:spPr>
          <a:xfrm flipV="1">
            <a:off x="5868895" y="6499124"/>
            <a:ext cx="332290" cy="914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Rectangle 50">
            <a:extLst>
              <a:ext uri="{FF2B5EF4-FFF2-40B4-BE49-F238E27FC236}">
                <a16:creationId xmlns:a16="http://schemas.microsoft.com/office/drawing/2014/main" id="{6CC0E6CF-E786-13F2-D71B-2E7CCAE7A18E}"/>
              </a:ext>
            </a:extLst>
          </p:cNvPr>
          <p:cNvSpPr/>
          <p:nvPr/>
        </p:nvSpPr>
        <p:spPr>
          <a:xfrm>
            <a:off x="6227064" y="6218126"/>
            <a:ext cx="5885020" cy="61264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Baby eligible for repeat phonocardiogram if standard clinical pathway involves repeat echocardiogram &lt;3 months of age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6BA747A-EE3A-FFAE-2D52-28A0E7CFDC0E}"/>
              </a:ext>
            </a:extLst>
          </p:cNvPr>
          <p:cNvSpPr/>
          <p:nvPr/>
        </p:nvSpPr>
        <p:spPr>
          <a:xfrm>
            <a:off x="3456432" y="4509896"/>
            <a:ext cx="2414016" cy="151790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u="sng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&gt;</a:t>
            </a:r>
            <a:r>
              <a:rPr lang="en-GB" sz="160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50 babies </a:t>
            </a:r>
            <a:r>
              <a:rPr lang="en-GB" sz="1600" u="sng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&gt;</a:t>
            </a:r>
            <a:r>
              <a:rPr lang="en-GB" sz="160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37 weeks gestation referred for echocardiogram due to new murmur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6AD5F29-C273-C147-075D-464167ADAD15}"/>
              </a:ext>
            </a:extLst>
          </p:cNvPr>
          <p:cNvSpPr/>
          <p:nvPr/>
        </p:nvSpPr>
        <p:spPr>
          <a:xfrm>
            <a:off x="8997695" y="2424411"/>
            <a:ext cx="1363703" cy="161203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Follow up phone call with carer at 1 year of age to check for later diagnosis of congenital heart disease 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30932DEB-0B2B-A196-C698-B6AA08D589AA}"/>
              </a:ext>
            </a:extLst>
          </p:cNvPr>
          <p:cNvCxnSpPr>
            <a:cxnSpLocks/>
          </p:cNvCxnSpPr>
          <p:nvPr/>
        </p:nvCxnSpPr>
        <p:spPr>
          <a:xfrm>
            <a:off x="10361398" y="3347248"/>
            <a:ext cx="383263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452160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8420</TotalTime>
  <Words>1619</Words>
  <Application>Microsoft Office PowerPoint</Application>
  <PresentationFormat>Widescreen</PresentationFormat>
  <Paragraphs>166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Aptos</vt:lpstr>
      <vt:lpstr>Aptos Display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Neil Lawrence</dc:creator>
  <cp:lastModifiedBy>Neil Lawrence</cp:lastModifiedBy>
  <cp:revision>10</cp:revision>
  <dcterms:created xsi:type="dcterms:W3CDTF">2024-09-26T08:58:51Z</dcterms:created>
  <dcterms:modified xsi:type="dcterms:W3CDTF">2025-12-15T13:09:56Z</dcterms:modified>
</cp:coreProperties>
</file>